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5" r:id="rId1"/>
  </p:sldMasterIdLst>
  <p:notesMasterIdLst>
    <p:notesMasterId r:id="rId16"/>
  </p:notesMasterIdLst>
  <p:sldIdLst>
    <p:sldId id="256" r:id="rId2"/>
    <p:sldId id="276" r:id="rId3"/>
    <p:sldId id="275" r:id="rId4"/>
    <p:sldId id="271" r:id="rId5"/>
    <p:sldId id="277" r:id="rId6"/>
    <p:sldId id="278" r:id="rId7"/>
    <p:sldId id="274" r:id="rId8"/>
    <p:sldId id="279" r:id="rId9"/>
    <p:sldId id="285" r:id="rId10"/>
    <p:sldId id="286" r:id="rId11"/>
    <p:sldId id="269" r:id="rId12"/>
    <p:sldId id="281" r:id="rId13"/>
    <p:sldId id="268" r:id="rId14"/>
    <p:sldId id="270" r:id="rId15"/>
  </p:sldIdLst>
  <p:sldSz cx="18288000" cy="10287000"/>
  <p:notesSz cx="6858000" cy="9144000"/>
  <p:embeddedFontLst>
    <p:embeddedFont>
      <p:font typeface="Barlow Black" panose="00000A00000000000000" pitchFamily="2" charset="0"/>
      <p:bold r:id="rId17"/>
      <p:boldItalic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709E18-0601-416F-AD4A-937A77F96839}" v="6" dt="2024-09-27T16:40:15.55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2" d="100"/>
          <a:sy n="52" d="100"/>
        </p:scale>
        <p:origin x="850" y="6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55948422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 name="Google Shape;5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2357557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C2251-6D61-5895-E5C8-CACD00FC2B56}"/>
              </a:ext>
            </a:extLst>
          </p:cNvPr>
          <p:cNvSpPr>
            <a:spLocks noGrp="1"/>
          </p:cNvSpPr>
          <p:nvPr>
            <p:ph type="ctrTitle"/>
          </p:nvPr>
        </p:nvSpPr>
        <p:spPr>
          <a:xfrm>
            <a:off x="2286000" y="1683545"/>
            <a:ext cx="13716000" cy="3581400"/>
          </a:xfrm>
        </p:spPr>
        <p:txBody>
          <a:bodyPr anchor="b"/>
          <a:lstStyle>
            <a:lvl1pPr algn="ctr">
              <a:defRPr sz="9000"/>
            </a:lvl1pPr>
          </a:lstStyle>
          <a:p>
            <a:r>
              <a:rPr lang="en-US"/>
              <a:t>Click to edit Master title style</a:t>
            </a:r>
            <a:endParaRPr lang="en-IN"/>
          </a:p>
        </p:txBody>
      </p:sp>
      <p:sp>
        <p:nvSpPr>
          <p:cNvPr id="3" name="Subtitle 2">
            <a:extLst>
              <a:ext uri="{FF2B5EF4-FFF2-40B4-BE49-F238E27FC236}">
                <a16:creationId xmlns:a16="http://schemas.microsoft.com/office/drawing/2014/main" id="{01ED10A0-2708-C0A6-E12A-3B312C2EA279}"/>
              </a:ext>
            </a:extLst>
          </p:cNvPr>
          <p:cNvSpPr>
            <a:spLocks noGrp="1"/>
          </p:cNvSpPr>
          <p:nvPr>
            <p:ph type="subTitle" idx="1"/>
          </p:nvPr>
        </p:nvSpPr>
        <p:spPr>
          <a:xfrm>
            <a:off x="2286000" y="5403057"/>
            <a:ext cx="13716000" cy="2483643"/>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B1691F9-8754-1BEF-2CDA-8254474D3DA3}"/>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312C10A9-2170-EB8F-961E-A0E8AEC4A3E9}"/>
              </a:ext>
            </a:extLst>
          </p:cNvPr>
          <p:cNvSpPr>
            <a:spLocks noGrp="1"/>
          </p:cNvSpPr>
          <p:nvPr>
            <p:ph type="ftr" sz="quarter" idx="11"/>
          </p:nvPr>
        </p:nvSpPr>
        <p:spPr/>
        <p:txBody>
          <a:bodyPr/>
          <a:lstStyle/>
          <a:p>
            <a:r>
              <a:rPr lang="en-IN"/>
              <a:t>SMART CROP PROTECTION</a:t>
            </a:r>
          </a:p>
        </p:txBody>
      </p:sp>
      <p:sp>
        <p:nvSpPr>
          <p:cNvPr id="6" name="Slide Number Placeholder 5">
            <a:extLst>
              <a:ext uri="{FF2B5EF4-FFF2-40B4-BE49-F238E27FC236}">
                <a16:creationId xmlns:a16="http://schemas.microsoft.com/office/drawing/2014/main" id="{11A066F7-1440-F0F5-7E26-CE5ACF1C83A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709237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C37D5-435E-6ED0-4EBD-F9A0481333C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AA8B5E6-C0D4-8F64-3353-CB2214D5286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719639B-38D9-02E3-3AC2-BB36203609BA}"/>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4BE88C5C-0C07-9D13-E1B4-9A4E9DB6B551}"/>
              </a:ext>
            </a:extLst>
          </p:cNvPr>
          <p:cNvSpPr>
            <a:spLocks noGrp="1"/>
          </p:cNvSpPr>
          <p:nvPr>
            <p:ph type="ftr" sz="quarter" idx="11"/>
          </p:nvPr>
        </p:nvSpPr>
        <p:spPr/>
        <p:txBody>
          <a:bodyPr/>
          <a:lstStyle/>
          <a:p>
            <a:r>
              <a:rPr lang="en-IN"/>
              <a:t>SMART CROP PROTECTION</a:t>
            </a:r>
          </a:p>
        </p:txBody>
      </p:sp>
      <p:sp>
        <p:nvSpPr>
          <p:cNvPr id="6" name="Slide Number Placeholder 5">
            <a:extLst>
              <a:ext uri="{FF2B5EF4-FFF2-40B4-BE49-F238E27FC236}">
                <a16:creationId xmlns:a16="http://schemas.microsoft.com/office/drawing/2014/main" id="{95D163F3-461F-7F6E-B593-2CCB4966282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1123966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DF5B8-99CA-8C8C-DA4B-DCF501C67E9F}"/>
              </a:ext>
            </a:extLst>
          </p:cNvPr>
          <p:cNvSpPr>
            <a:spLocks noGrp="1"/>
          </p:cNvSpPr>
          <p:nvPr>
            <p:ph type="title"/>
          </p:nvPr>
        </p:nvSpPr>
        <p:spPr>
          <a:xfrm>
            <a:off x="1247775" y="2564608"/>
            <a:ext cx="15773400" cy="4279106"/>
          </a:xfrm>
        </p:spPr>
        <p:txBody>
          <a:bodyPr anchor="b"/>
          <a:lstStyle>
            <a:lvl1pPr>
              <a:defRPr sz="9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093F32D-FF1C-E9A9-6F49-994B0E8B0C38}"/>
              </a:ext>
            </a:extLst>
          </p:cNvPr>
          <p:cNvSpPr>
            <a:spLocks noGrp="1"/>
          </p:cNvSpPr>
          <p:nvPr>
            <p:ph type="body" idx="1"/>
          </p:nvPr>
        </p:nvSpPr>
        <p:spPr>
          <a:xfrm>
            <a:off x="1247775" y="6884195"/>
            <a:ext cx="15773400" cy="2250281"/>
          </a:xfrm>
        </p:spPr>
        <p:txBody>
          <a:bodyPr/>
          <a:lstStyle>
            <a:lvl1pPr marL="0" indent="0">
              <a:buNone/>
              <a:defRPr sz="3600">
                <a:solidFill>
                  <a:schemeClr val="tx1">
                    <a:tint val="75000"/>
                  </a:schemeClr>
                </a:solidFill>
              </a:defRPr>
            </a:lvl1pPr>
            <a:lvl2pPr marL="685800" indent="0">
              <a:buNone/>
              <a:defRPr sz="30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DDE1183-C24F-AE41-D6AC-BFFB50A98A65}"/>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E58A1156-D951-5894-20DE-A88112C6138F}"/>
              </a:ext>
            </a:extLst>
          </p:cNvPr>
          <p:cNvSpPr>
            <a:spLocks noGrp="1"/>
          </p:cNvSpPr>
          <p:nvPr>
            <p:ph type="ftr" sz="quarter" idx="11"/>
          </p:nvPr>
        </p:nvSpPr>
        <p:spPr/>
        <p:txBody>
          <a:bodyPr/>
          <a:lstStyle/>
          <a:p>
            <a:r>
              <a:rPr lang="en-IN"/>
              <a:t>SMART CROP PROTECTION</a:t>
            </a:r>
          </a:p>
        </p:txBody>
      </p:sp>
      <p:sp>
        <p:nvSpPr>
          <p:cNvPr id="6" name="Slide Number Placeholder 5">
            <a:extLst>
              <a:ext uri="{FF2B5EF4-FFF2-40B4-BE49-F238E27FC236}">
                <a16:creationId xmlns:a16="http://schemas.microsoft.com/office/drawing/2014/main" id="{90AE1124-BD91-FAC9-6D95-16E741A3D93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9554342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CB657-B9CA-D18A-6ACE-8E3DCC26DE1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CABB412-8451-FF90-215A-1B9B9A303900}"/>
              </a:ext>
            </a:extLst>
          </p:cNvPr>
          <p:cNvSpPr>
            <a:spLocks noGrp="1"/>
          </p:cNvSpPr>
          <p:nvPr>
            <p:ph sz="half" idx="1"/>
          </p:nvPr>
        </p:nvSpPr>
        <p:spPr>
          <a:xfrm>
            <a:off x="1257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2F59E30-2939-3F75-20F6-B467FBB5D492}"/>
              </a:ext>
            </a:extLst>
          </p:cNvPr>
          <p:cNvSpPr>
            <a:spLocks noGrp="1"/>
          </p:cNvSpPr>
          <p:nvPr>
            <p:ph sz="half" idx="2"/>
          </p:nvPr>
        </p:nvSpPr>
        <p:spPr>
          <a:xfrm>
            <a:off x="9258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4127169-79C7-6295-AAEC-04004C4D63E1}"/>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0D63CB7E-E68C-7C76-699F-B72CB03EAE68}"/>
              </a:ext>
            </a:extLst>
          </p:cNvPr>
          <p:cNvSpPr>
            <a:spLocks noGrp="1"/>
          </p:cNvSpPr>
          <p:nvPr>
            <p:ph type="ftr" sz="quarter" idx="11"/>
          </p:nvPr>
        </p:nvSpPr>
        <p:spPr/>
        <p:txBody>
          <a:bodyPr/>
          <a:lstStyle/>
          <a:p>
            <a:r>
              <a:rPr lang="en-IN"/>
              <a:t>SMART CROP PROTECTION</a:t>
            </a:r>
          </a:p>
        </p:txBody>
      </p:sp>
      <p:sp>
        <p:nvSpPr>
          <p:cNvPr id="7" name="Slide Number Placeholder 6">
            <a:extLst>
              <a:ext uri="{FF2B5EF4-FFF2-40B4-BE49-F238E27FC236}">
                <a16:creationId xmlns:a16="http://schemas.microsoft.com/office/drawing/2014/main" id="{D836798E-998B-EA0A-3EB7-211CD7A20AD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853077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A5189-8FFA-D41A-C33E-163C1E718950}"/>
              </a:ext>
            </a:extLst>
          </p:cNvPr>
          <p:cNvSpPr>
            <a:spLocks noGrp="1"/>
          </p:cNvSpPr>
          <p:nvPr>
            <p:ph type="title"/>
          </p:nvPr>
        </p:nvSpPr>
        <p:spPr>
          <a:xfrm>
            <a:off x="1259682" y="547688"/>
            <a:ext cx="15773400" cy="1988345"/>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E581B43-1F1A-02C8-8208-3244261A620D}"/>
              </a:ext>
            </a:extLst>
          </p:cNvPr>
          <p:cNvSpPr>
            <a:spLocks noGrp="1"/>
          </p:cNvSpPr>
          <p:nvPr>
            <p:ph type="body" idx="1"/>
          </p:nvPr>
        </p:nvSpPr>
        <p:spPr>
          <a:xfrm>
            <a:off x="1259683" y="2521745"/>
            <a:ext cx="7736681"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a:extLst>
              <a:ext uri="{FF2B5EF4-FFF2-40B4-BE49-F238E27FC236}">
                <a16:creationId xmlns:a16="http://schemas.microsoft.com/office/drawing/2014/main" id="{DF296CA3-2CC4-B44F-2EBA-D595EC606BD7}"/>
              </a:ext>
            </a:extLst>
          </p:cNvPr>
          <p:cNvSpPr>
            <a:spLocks noGrp="1"/>
          </p:cNvSpPr>
          <p:nvPr>
            <p:ph sz="half" idx="2"/>
          </p:nvPr>
        </p:nvSpPr>
        <p:spPr>
          <a:xfrm>
            <a:off x="1259683" y="3757613"/>
            <a:ext cx="7736681"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AD33650-26A7-DDED-CFDC-980DF04E4144}"/>
              </a:ext>
            </a:extLst>
          </p:cNvPr>
          <p:cNvSpPr>
            <a:spLocks noGrp="1"/>
          </p:cNvSpPr>
          <p:nvPr>
            <p:ph type="body" sz="quarter" idx="3"/>
          </p:nvPr>
        </p:nvSpPr>
        <p:spPr>
          <a:xfrm>
            <a:off x="9258300" y="2521745"/>
            <a:ext cx="7774782"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a:extLst>
              <a:ext uri="{FF2B5EF4-FFF2-40B4-BE49-F238E27FC236}">
                <a16:creationId xmlns:a16="http://schemas.microsoft.com/office/drawing/2014/main" id="{37DAC5B4-31B3-9423-2663-D59AC4BD60BC}"/>
              </a:ext>
            </a:extLst>
          </p:cNvPr>
          <p:cNvSpPr>
            <a:spLocks noGrp="1"/>
          </p:cNvSpPr>
          <p:nvPr>
            <p:ph sz="quarter" idx="4"/>
          </p:nvPr>
        </p:nvSpPr>
        <p:spPr>
          <a:xfrm>
            <a:off x="9258300" y="3757613"/>
            <a:ext cx="7774782"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AD162FD-81ED-3C21-EC10-50E19338B0EE}"/>
              </a:ext>
            </a:extLst>
          </p:cNvPr>
          <p:cNvSpPr>
            <a:spLocks noGrp="1"/>
          </p:cNvSpPr>
          <p:nvPr>
            <p:ph type="dt" sz="half" idx="10"/>
          </p:nvPr>
        </p:nvSpPr>
        <p:spPr/>
        <p:txBody>
          <a:bodyPr/>
          <a:lstStyle/>
          <a:p>
            <a:endParaRPr lang="en-IN"/>
          </a:p>
        </p:txBody>
      </p:sp>
      <p:sp>
        <p:nvSpPr>
          <p:cNvPr id="8" name="Footer Placeholder 7">
            <a:extLst>
              <a:ext uri="{FF2B5EF4-FFF2-40B4-BE49-F238E27FC236}">
                <a16:creationId xmlns:a16="http://schemas.microsoft.com/office/drawing/2014/main" id="{B926BE08-41D3-F300-BB69-F4412105B2B1}"/>
              </a:ext>
            </a:extLst>
          </p:cNvPr>
          <p:cNvSpPr>
            <a:spLocks noGrp="1"/>
          </p:cNvSpPr>
          <p:nvPr>
            <p:ph type="ftr" sz="quarter" idx="11"/>
          </p:nvPr>
        </p:nvSpPr>
        <p:spPr/>
        <p:txBody>
          <a:bodyPr/>
          <a:lstStyle/>
          <a:p>
            <a:r>
              <a:rPr lang="en-IN"/>
              <a:t>SMART CROP PROTECTION</a:t>
            </a:r>
          </a:p>
        </p:txBody>
      </p:sp>
      <p:sp>
        <p:nvSpPr>
          <p:cNvPr id="9" name="Slide Number Placeholder 8">
            <a:extLst>
              <a:ext uri="{FF2B5EF4-FFF2-40B4-BE49-F238E27FC236}">
                <a16:creationId xmlns:a16="http://schemas.microsoft.com/office/drawing/2014/main" id="{8901D6F4-5731-3FAF-F342-C9FB93A5DEA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3643604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D253C-B9DF-7562-3CF2-9AFDF5694E7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F9D3F92-464E-B8BF-9EEE-C4B367B05E56}"/>
              </a:ext>
            </a:extLst>
          </p:cNvPr>
          <p:cNvSpPr>
            <a:spLocks noGrp="1"/>
          </p:cNvSpPr>
          <p:nvPr>
            <p:ph type="dt" sz="half" idx="10"/>
          </p:nvPr>
        </p:nvSpPr>
        <p:spPr/>
        <p:txBody>
          <a:bodyPr/>
          <a:lstStyle/>
          <a:p>
            <a:endParaRPr lang="en-IN"/>
          </a:p>
        </p:txBody>
      </p:sp>
      <p:sp>
        <p:nvSpPr>
          <p:cNvPr id="4" name="Footer Placeholder 3">
            <a:extLst>
              <a:ext uri="{FF2B5EF4-FFF2-40B4-BE49-F238E27FC236}">
                <a16:creationId xmlns:a16="http://schemas.microsoft.com/office/drawing/2014/main" id="{DA24018D-AF33-C170-CBF0-1A345782B119}"/>
              </a:ext>
            </a:extLst>
          </p:cNvPr>
          <p:cNvSpPr>
            <a:spLocks noGrp="1"/>
          </p:cNvSpPr>
          <p:nvPr>
            <p:ph type="ftr" sz="quarter" idx="11"/>
          </p:nvPr>
        </p:nvSpPr>
        <p:spPr/>
        <p:txBody>
          <a:bodyPr/>
          <a:lstStyle/>
          <a:p>
            <a:r>
              <a:rPr lang="en-IN"/>
              <a:t>SMART CROP PROTECTION</a:t>
            </a:r>
          </a:p>
        </p:txBody>
      </p:sp>
      <p:sp>
        <p:nvSpPr>
          <p:cNvPr id="5" name="Slide Number Placeholder 4">
            <a:extLst>
              <a:ext uri="{FF2B5EF4-FFF2-40B4-BE49-F238E27FC236}">
                <a16:creationId xmlns:a16="http://schemas.microsoft.com/office/drawing/2014/main" id="{2E414BAD-F6A1-833B-4F29-1F59CBE4361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7831305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749C1F5-42DF-38F4-7B51-ED5B62884673}"/>
              </a:ext>
            </a:extLst>
          </p:cNvPr>
          <p:cNvSpPr>
            <a:spLocks noGrp="1"/>
          </p:cNvSpPr>
          <p:nvPr>
            <p:ph type="dt" sz="half" idx="10"/>
          </p:nvPr>
        </p:nvSpPr>
        <p:spPr/>
        <p:txBody>
          <a:bodyPr/>
          <a:lstStyle/>
          <a:p>
            <a:endParaRPr lang="en-IN"/>
          </a:p>
        </p:txBody>
      </p:sp>
      <p:sp>
        <p:nvSpPr>
          <p:cNvPr id="3" name="Footer Placeholder 2">
            <a:extLst>
              <a:ext uri="{FF2B5EF4-FFF2-40B4-BE49-F238E27FC236}">
                <a16:creationId xmlns:a16="http://schemas.microsoft.com/office/drawing/2014/main" id="{2694E4C7-1DB5-9CC0-2109-7F5C1E1B682F}"/>
              </a:ext>
            </a:extLst>
          </p:cNvPr>
          <p:cNvSpPr>
            <a:spLocks noGrp="1"/>
          </p:cNvSpPr>
          <p:nvPr>
            <p:ph type="ftr" sz="quarter" idx="11"/>
          </p:nvPr>
        </p:nvSpPr>
        <p:spPr/>
        <p:txBody>
          <a:bodyPr/>
          <a:lstStyle/>
          <a:p>
            <a:r>
              <a:rPr lang="en-IN"/>
              <a:t>SMART CROP PROTECTION</a:t>
            </a:r>
          </a:p>
        </p:txBody>
      </p:sp>
      <p:sp>
        <p:nvSpPr>
          <p:cNvPr id="4" name="Slide Number Placeholder 3">
            <a:extLst>
              <a:ext uri="{FF2B5EF4-FFF2-40B4-BE49-F238E27FC236}">
                <a16:creationId xmlns:a16="http://schemas.microsoft.com/office/drawing/2014/main" id="{265AC685-CE50-16A4-91D5-CC9B88F8A59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1671991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CC0CA-0D71-AB9B-38BB-C1AB42656B79}"/>
              </a:ext>
            </a:extLst>
          </p:cNvPr>
          <p:cNvSpPr>
            <a:spLocks noGrp="1"/>
          </p:cNvSpPr>
          <p:nvPr>
            <p:ph type="title"/>
          </p:nvPr>
        </p:nvSpPr>
        <p:spPr>
          <a:xfrm>
            <a:off x="1259683" y="685800"/>
            <a:ext cx="5898356" cy="2400300"/>
          </a:xfrm>
        </p:spPr>
        <p:txBody>
          <a:bodyPr anchor="b"/>
          <a:lstStyle>
            <a:lvl1pPr>
              <a:defRPr sz="48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81F71E5-4C48-D943-7EDF-B3A95F5E0F16}"/>
              </a:ext>
            </a:extLst>
          </p:cNvPr>
          <p:cNvSpPr>
            <a:spLocks noGrp="1"/>
          </p:cNvSpPr>
          <p:nvPr>
            <p:ph idx="1"/>
          </p:nvPr>
        </p:nvSpPr>
        <p:spPr>
          <a:xfrm>
            <a:off x="7774782" y="1481138"/>
            <a:ext cx="9258300" cy="7310438"/>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273DABE-B013-FB8C-850E-D7ABA28591CC}"/>
              </a:ext>
            </a:extLst>
          </p:cNvPr>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a:extLst>
              <a:ext uri="{FF2B5EF4-FFF2-40B4-BE49-F238E27FC236}">
                <a16:creationId xmlns:a16="http://schemas.microsoft.com/office/drawing/2014/main" id="{872B5E58-DC3A-5DA8-C842-DCE8EC9B9563}"/>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80243467-39FA-A532-FE67-04FC6C741CBE}"/>
              </a:ext>
            </a:extLst>
          </p:cNvPr>
          <p:cNvSpPr>
            <a:spLocks noGrp="1"/>
          </p:cNvSpPr>
          <p:nvPr>
            <p:ph type="ftr" sz="quarter" idx="11"/>
          </p:nvPr>
        </p:nvSpPr>
        <p:spPr/>
        <p:txBody>
          <a:bodyPr/>
          <a:lstStyle/>
          <a:p>
            <a:r>
              <a:rPr lang="en-IN"/>
              <a:t>SMART CROP PROTECTION</a:t>
            </a:r>
          </a:p>
        </p:txBody>
      </p:sp>
      <p:sp>
        <p:nvSpPr>
          <p:cNvPr id="7" name="Slide Number Placeholder 6">
            <a:extLst>
              <a:ext uri="{FF2B5EF4-FFF2-40B4-BE49-F238E27FC236}">
                <a16:creationId xmlns:a16="http://schemas.microsoft.com/office/drawing/2014/main" id="{E5C61204-B7AF-8443-EFF4-F32C2E119F8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7169391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D9218-FF6D-F68F-1FB7-BE881A89601A}"/>
              </a:ext>
            </a:extLst>
          </p:cNvPr>
          <p:cNvSpPr>
            <a:spLocks noGrp="1"/>
          </p:cNvSpPr>
          <p:nvPr>
            <p:ph type="title"/>
          </p:nvPr>
        </p:nvSpPr>
        <p:spPr>
          <a:xfrm>
            <a:off x="1259683" y="685800"/>
            <a:ext cx="5898356" cy="2400300"/>
          </a:xfrm>
        </p:spPr>
        <p:txBody>
          <a:bodyPr anchor="b"/>
          <a:lstStyle>
            <a:lvl1pPr>
              <a:defRPr sz="48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0E153A2-178F-3EA4-1A1E-BB36271600B6}"/>
              </a:ext>
            </a:extLst>
          </p:cNvPr>
          <p:cNvSpPr>
            <a:spLocks noGrp="1"/>
          </p:cNvSpPr>
          <p:nvPr>
            <p:ph type="pic" idx="1"/>
          </p:nvPr>
        </p:nvSpPr>
        <p:spPr>
          <a:xfrm>
            <a:off x="7774782" y="1481138"/>
            <a:ext cx="9258300" cy="7310438"/>
          </a:xfrm>
        </p:spPr>
        <p:txBody>
          <a:bodyPr/>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endParaRPr lang="en-IN"/>
          </a:p>
        </p:txBody>
      </p:sp>
      <p:sp>
        <p:nvSpPr>
          <p:cNvPr id="4" name="Text Placeholder 3">
            <a:extLst>
              <a:ext uri="{FF2B5EF4-FFF2-40B4-BE49-F238E27FC236}">
                <a16:creationId xmlns:a16="http://schemas.microsoft.com/office/drawing/2014/main" id="{BB8CF8F1-0FDC-ED4B-317F-38E9DFCED8FB}"/>
              </a:ext>
            </a:extLst>
          </p:cNvPr>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a:extLst>
              <a:ext uri="{FF2B5EF4-FFF2-40B4-BE49-F238E27FC236}">
                <a16:creationId xmlns:a16="http://schemas.microsoft.com/office/drawing/2014/main" id="{9D729C73-E9C7-EACC-3E98-724315FA3897}"/>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79F17867-5643-4345-B46F-14DD43EC9B59}"/>
              </a:ext>
            </a:extLst>
          </p:cNvPr>
          <p:cNvSpPr>
            <a:spLocks noGrp="1"/>
          </p:cNvSpPr>
          <p:nvPr>
            <p:ph type="ftr" sz="quarter" idx="11"/>
          </p:nvPr>
        </p:nvSpPr>
        <p:spPr/>
        <p:txBody>
          <a:bodyPr/>
          <a:lstStyle/>
          <a:p>
            <a:r>
              <a:rPr lang="en-IN"/>
              <a:t>SMART CROP PROTECTION</a:t>
            </a:r>
          </a:p>
        </p:txBody>
      </p:sp>
      <p:sp>
        <p:nvSpPr>
          <p:cNvPr id="7" name="Slide Number Placeholder 6">
            <a:extLst>
              <a:ext uri="{FF2B5EF4-FFF2-40B4-BE49-F238E27FC236}">
                <a16:creationId xmlns:a16="http://schemas.microsoft.com/office/drawing/2014/main" id="{535A98B7-DF2C-9C80-D1DD-60FDEAA80920}"/>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2398032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AE5CF-8895-58B0-ADA2-17C79DDE827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074E696-8B32-A900-0F4C-AB9B46AF71E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BF6EB89-2D44-76C5-7A51-6447880858E3}"/>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3D75E190-FE8E-302C-923A-0C0AA1B1B3CB}"/>
              </a:ext>
            </a:extLst>
          </p:cNvPr>
          <p:cNvSpPr>
            <a:spLocks noGrp="1"/>
          </p:cNvSpPr>
          <p:nvPr>
            <p:ph type="ftr" sz="quarter" idx="11"/>
          </p:nvPr>
        </p:nvSpPr>
        <p:spPr/>
        <p:txBody>
          <a:bodyPr/>
          <a:lstStyle/>
          <a:p>
            <a:r>
              <a:rPr lang="en-IN"/>
              <a:t>SMART CROP PROTECTION</a:t>
            </a:r>
          </a:p>
        </p:txBody>
      </p:sp>
      <p:sp>
        <p:nvSpPr>
          <p:cNvPr id="6" name="Slide Number Placeholder 5">
            <a:extLst>
              <a:ext uri="{FF2B5EF4-FFF2-40B4-BE49-F238E27FC236}">
                <a16:creationId xmlns:a16="http://schemas.microsoft.com/office/drawing/2014/main" id="{2B981489-062C-1B73-CC45-E1E1B127A05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0895476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95EA22-51BE-DFBC-9C36-04A0C6E3D62B}"/>
              </a:ext>
            </a:extLst>
          </p:cNvPr>
          <p:cNvSpPr>
            <a:spLocks noGrp="1"/>
          </p:cNvSpPr>
          <p:nvPr>
            <p:ph type="title" orient="vert"/>
          </p:nvPr>
        </p:nvSpPr>
        <p:spPr>
          <a:xfrm>
            <a:off x="13087350" y="547688"/>
            <a:ext cx="3943350" cy="8717757"/>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BCE1025-772F-415D-C8A7-61AB07268DA6}"/>
              </a:ext>
            </a:extLst>
          </p:cNvPr>
          <p:cNvSpPr>
            <a:spLocks noGrp="1"/>
          </p:cNvSpPr>
          <p:nvPr>
            <p:ph type="body" orient="vert" idx="1"/>
          </p:nvPr>
        </p:nvSpPr>
        <p:spPr>
          <a:xfrm>
            <a:off x="1257300" y="547688"/>
            <a:ext cx="11601450" cy="871775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F6CAA4A-3C12-EF29-02EC-C816E9483DA3}"/>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11035A64-63BC-0CBF-27FD-FD4C1370201F}"/>
              </a:ext>
            </a:extLst>
          </p:cNvPr>
          <p:cNvSpPr>
            <a:spLocks noGrp="1"/>
          </p:cNvSpPr>
          <p:nvPr>
            <p:ph type="ftr" sz="quarter" idx="11"/>
          </p:nvPr>
        </p:nvSpPr>
        <p:spPr/>
        <p:txBody>
          <a:bodyPr/>
          <a:lstStyle/>
          <a:p>
            <a:r>
              <a:rPr lang="en-IN"/>
              <a:t>SMART CROP PROTECTION</a:t>
            </a:r>
          </a:p>
        </p:txBody>
      </p:sp>
      <p:sp>
        <p:nvSpPr>
          <p:cNvPr id="6" name="Slide Number Placeholder 5">
            <a:extLst>
              <a:ext uri="{FF2B5EF4-FFF2-40B4-BE49-F238E27FC236}">
                <a16:creationId xmlns:a16="http://schemas.microsoft.com/office/drawing/2014/main" id="{86C62BD0-E979-02B3-1D89-F61CEEFB469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6141609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ustom Layout 1">
  <p:cSld name="Custom Layout 1">
    <p:spTree>
      <p:nvGrpSpPr>
        <p:cNvPr id="1" name="Shape 15"/>
        <p:cNvGrpSpPr/>
        <p:nvPr/>
      </p:nvGrpSpPr>
      <p:grpSpPr>
        <a:xfrm>
          <a:off x="0" y="0"/>
          <a:ext cx="0" cy="0"/>
          <a:chOff x="0" y="0"/>
          <a:chExt cx="0" cy="0"/>
        </a:xfrm>
      </p:grpSpPr>
    </p:spTree>
    <p:extLst>
      <p:ext uri="{BB962C8B-B14F-4D97-AF65-F5344CB8AC3E}">
        <p14:creationId xmlns:p14="http://schemas.microsoft.com/office/powerpoint/2010/main" val="8831909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A067FD-7077-D5C6-CC9D-5467731D4187}"/>
              </a:ext>
            </a:extLst>
          </p:cNvPr>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ACC6C3D-ABF5-FC8E-A5E9-0AE19CFFF2D8}"/>
              </a:ext>
            </a:extLst>
          </p:cNvPr>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7F9F275-6A3C-13FE-6E38-938313D0F7E7}"/>
              </a:ext>
            </a:extLst>
          </p:cNvPr>
          <p:cNvSpPr>
            <a:spLocks noGrp="1"/>
          </p:cNvSpPr>
          <p:nvPr>
            <p:ph type="dt" sz="half" idx="2"/>
          </p:nvPr>
        </p:nvSpPr>
        <p:spPr>
          <a:xfrm>
            <a:off x="1257300" y="9534526"/>
            <a:ext cx="4114800" cy="547688"/>
          </a:xfrm>
          <a:prstGeom prst="rect">
            <a:avLst/>
          </a:prstGeom>
        </p:spPr>
        <p:txBody>
          <a:bodyPr vert="horz" lIns="91440" tIns="45720" rIns="91440" bIns="45720" rtlCol="0" anchor="ctr"/>
          <a:lstStyle>
            <a:lvl1pPr algn="l">
              <a:defRPr sz="1800">
                <a:solidFill>
                  <a:schemeClr val="tx1">
                    <a:tint val="75000"/>
                  </a:schemeClr>
                </a:solidFill>
              </a:defRPr>
            </a:lvl1pPr>
          </a:lstStyle>
          <a:p>
            <a:endParaRPr lang="en-IN"/>
          </a:p>
        </p:txBody>
      </p:sp>
      <p:sp>
        <p:nvSpPr>
          <p:cNvPr id="5" name="Footer Placeholder 4">
            <a:extLst>
              <a:ext uri="{FF2B5EF4-FFF2-40B4-BE49-F238E27FC236}">
                <a16:creationId xmlns:a16="http://schemas.microsoft.com/office/drawing/2014/main" id="{8D022750-E0F5-9072-4B68-16A7882D6347}"/>
              </a:ext>
            </a:extLst>
          </p:cNvPr>
          <p:cNvSpPr>
            <a:spLocks noGrp="1"/>
          </p:cNvSpPr>
          <p:nvPr>
            <p:ph type="ftr" sz="quarter" idx="3"/>
          </p:nvPr>
        </p:nvSpPr>
        <p:spPr>
          <a:xfrm>
            <a:off x="6057900" y="9534526"/>
            <a:ext cx="6172200" cy="547688"/>
          </a:xfrm>
          <a:prstGeom prst="rect">
            <a:avLst/>
          </a:prstGeom>
        </p:spPr>
        <p:txBody>
          <a:bodyPr vert="horz" lIns="91440" tIns="45720" rIns="91440" bIns="45720" rtlCol="0" anchor="ctr"/>
          <a:lstStyle>
            <a:lvl1pPr algn="ctr">
              <a:defRPr sz="1800">
                <a:solidFill>
                  <a:schemeClr val="tx1">
                    <a:tint val="75000"/>
                  </a:schemeClr>
                </a:solidFill>
              </a:defRPr>
            </a:lvl1pPr>
          </a:lstStyle>
          <a:p>
            <a:r>
              <a:rPr lang="en-IN"/>
              <a:t>SMART CROP PROTECTION</a:t>
            </a:r>
          </a:p>
        </p:txBody>
      </p:sp>
      <p:sp>
        <p:nvSpPr>
          <p:cNvPr id="6" name="Slide Number Placeholder 5">
            <a:extLst>
              <a:ext uri="{FF2B5EF4-FFF2-40B4-BE49-F238E27FC236}">
                <a16:creationId xmlns:a16="http://schemas.microsoft.com/office/drawing/2014/main" id="{72C6D9B1-44F1-4555-E90D-747A97B22C08}"/>
              </a:ext>
            </a:extLst>
          </p:cNvPr>
          <p:cNvSpPr>
            <a:spLocks noGrp="1"/>
          </p:cNvSpPr>
          <p:nvPr>
            <p:ph type="sldNum" sz="quarter" idx="4"/>
          </p:nvPr>
        </p:nvSpPr>
        <p:spPr>
          <a:xfrm>
            <a:off x="12915900" y="9534526"/>
            <a:ext cx="4114800" cy="547688"/>
          </a:xfrm>
          <a:prstGeom prst="rect">
            <a:avLst/>
          </a:prstGeom>
        </p:spPr>
        <p:txBody>
          <a:bodyPr vert="horz" lIns="91440" tIns="45720" rIns="91440" bIns="45720" rtlCol="0" anchor="ctr"/>
          <a:lstStyle>
            <a:lvl1pPr algn="r">
              <a:defRPr sz="1800">
                <a:solidFill>
                  <a:schemeClr val="tx1">
                    <a:tint val="75000"/>
                  </a:schemeClr>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319828917"/>
      </p:ext>
    </p:extLst>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 id="2147483667" r:id="rId12"/>
  </p:sldLayoutIdLst>
  <p:hf hdr="0" ftr="0" dt="0"/>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57"/>
        <p:cNvGrpSpPr/>
        <p:nvPr/>
      </p:nvGrpSpPr>
      <p:grpSpPr>
        <a:xfrm>
          <a:off x="0" y="0"/>
          <a:ext cx="0" cy="0"/>
          <a:chOff x="0" y="0"/>
          <a:chExt cx="0" cy="0"/>
        </a:xfrm>
      </p:grpSpPr>
      <p:sp>
        <p:nvSpPr>
          <p:cNvPr id="62" name="Google Shape;62;p8"/>
          <p:cNvSpPr txBox="1"/>
          <p:nvPr/>
        </p:nvSpPr>
        <p:spPr>
          <a:xfrm>
            <a:off x="3721236" y="4175137"/>
            <a:ext cx="11967453" cy="2412968"/>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endParaRPr lang="en-US" sz="3200" b="1" i="0" u="none" strike="noStrike" baseline="0" dirty="0">
              <a:solidFill>
                <a:srgbClr val="000000"/>
              </a:solidFill>
              <a:latin typeface="Times New Roman" panose="02020603050405020304" pitchFamily="18" charset="0"/>
              <a:cs typeface="Times New Roman" panose="02020603050405020304" pitchFamily="18" charset="0"/>
            </a:endParaRPr>
          </a:p>
          <a:p>
            <a:pPr marL="0" marR="0" lvl="0" indent="0" algn="ctr" rtl="0">
              <a:lnSpc>
                <a:spcPct val="140000"/>
              </a:lnSpc>
              <a:spcBef>
                <a:spcPts val="0"/>
              </a:spcBef>
              <a:spcAft>
                <a:spcPts val="0"/>
              </a:spcAft>
              <a:buNone/>
            </a:pPr>
            <a:r>
              <a:rPr lang="en-US" sz="3200" b="1" dirty="0">
                <a:solidFill>
                  <a:srgbClr val="000000"/>
                </a:solidFill>
                <a:latin typeface="Times New Roman" panose="02020603050405020304" pitchFamily="18" charset="0"/>
                <a:cs typeface="Times New Roman" panose="02020603050405020304" pitchFamily="18" charset="0"/>
              </a:rPr>
              <a:t>     </a:t>
            </a:r>
            <a:r>
              <a:rPr lang="en-US" sz="4000" b="1" i="0" u="none" strike="noStrike" baseline="0" dirty="0">
                <a:solidFill>
                  <a:srgbClr val="000000"/>
                </a:solidFill>
                <a:latin typeface="Times New Roman" panose="02020603050405020304" pitchFamily="18" charset="0"/>
                <a:cs typeface="Times New Roman" panose="02020603050405020304" pitchFamily="18" charset="0"/>
              </a:rPr>
              <a:t>Raspberry Pi based Weather Reporting Over IOT </a:t>
            </a:r>
            <a:br>
              <a:rPr lang="en-IN" sz="4000" b="1" dirty="0">
                <a:effectLst>
                  <a:outerShdw blurRad="38100" dist="38100" dir="2700000" algn="tl">
                    <a:srgbClr val="000000">
                      <a:alpha val="43137"/>
                    </a:srgbClr>
                  </a:outerShdw>
                </a:effectLst>
              </a:rPr>
            </a:br>
            <a:r>
              <a:rPr lang="en-US" sz="4000" i="0" u="none" strike="noStrike" dirty="0">
                <a:ln w="0"/>
                <a:effectLst>
                  <a:outerShdw blurRad="38100" dist="19050" dir="2700000" algn="tl" rotWithShape="0">
                    <a:schemeClr val="dk1">
                      <a:alpha val="40000"/>
                    </a:schemeClr>
                  </a:outerShdw>
                </a:effectLst>
                <a:latin typeface="Barlow Black"/>
                <a:ea typeface="Barlow Black"/>
                <a:cs typeface="Barlow Black"/>
                <a:sym typeface="Barlow Black"/>
              </a:rPr>
              <a:t> </a:t>
            </a:r>
            <a:endParaRPr sz="4000" dirty="0">
              <a:ln w="0"/>
              <a:effectLst>
                <a:outerShdw blurRad="38100" dist="19050" dir="2700000" algn="tl" rotWithShape="0">
                  <a:schemeClr val="dk1">
                    <a:alpha val="40000"/>
                  </a:schemeClr>
                </a:outerShdw>
              </a:effectLst>
            </a:endParaRPr>
          </a:p>
        </p:txBody>
      </p:sp>
      <p:sp>
        <p:nvSpPr>
          <p:cNvPr id="64" name="Google Shape;64;p8"/>
          <p:cNvSpPr txBox="1"/>
          <p:nvPr/>
        </p:nvSpPr>
        <p:spPr>
          <a:xfrm>
            <a:off x="5189800" y="6056554"/>
            <a:ext cx="8634084" cy="2973122"/>
          </a:xfrm>
          <a:prstGeom prst="rect">
            <a:avLst/>
          </a:prstGeom>
          <a:noFill/>
          <a:ln>
            <a:noFill/>
          </a:ln>
        </p:spPr>
        <p:txBody>
          <a:bodyPr spcFirstLastPara="1" wrap="square" lIns="0" tIns="0" rIns="0" bIns="0" anchor="t" anchorCtr="0">
            <a:spAutoFit/>
          </a:bodyPr>
          <a:lstStyle/>
          <a:p>
            <a:pPr marL="0" marR="0" lvl="0" indent="0" algn="ctr" rtl="0">
              <a:lnSpc>
                <a:spcPct val="115000"/>
              </a:lnSpc>
              <a:spcBef>
                <a:spcPts val="0"/>
              </a:spcBef>
              <a:spcAft>
                <a:spcPts val="0"/>
              </a:spcAft>
              <a:buNone/>
            </a:pPr>
            <a:r>
              <a:rPr lang="en-US" sz="2800" b="0" i="0" u="none" strike="noStrike" cap="none" dirty="0">
                <a:solidFill>
                  <a:srgbClr val="1E1B1A"/>
                </a:solidFill>
                <a:latin typeface="Times New Roman" panose="02020603050405020304" pitchFamily="18" charset="0"/>
                <a:ea typeface="Barlow"/>
                <a:cs typeface="Times New Roman" panose="02020603050405020304" pitchFamily="18" charset="0"/>
                <a:sym typeface="Barlow"/>
              </a:rPr>
              <a:t>Group Member :-</a:t>
            </a:r>
          </a:p>
          <a:p>
            <a:pPr marL="514350" marR="0" lvl="0" indent="-514350" algn="ctr" rtl="0">
              <a:lnSpc>
                <a:spcPct val="115000"/>
              </a:lnSpc>
              <a:spcBef>
                <a:spcPts val="0"/>
              </a:spcBef>
              <a:spcAft>
                <a:spcPts val="0"/>
              </a:spcAft>
              <a:buAutoNum type="arabicPeriod"/>
            </a:pPr>
            <a:r>
              <a:rPr lang="en-US" sz="2800" dirty="0" err="1">
                <a:solidFill>
                  <a:srgbClr val="1E1B1A"/>
                </a:solidFill>
                <a:latin typeface="Times New Roman" panose="02020603050405020304" pitchFamily="18" charset="0"/>
                <a:cs typeface="Times New Roman" panose="02020603050405020304" pitchFamily="18" charset="0"/>
                <a:sym typeface="Barlow"/>
              </a:rPr>
              <a:t>Kashid</a:t>
            </a:r>
            <a:r>
              <a:rPr lang="en-US" sz="2800" dirty="0">
                <a:solidFill>
                  <a:srgbClr val="1E1B1A"/>
                </a:solidFill>
                <a:latin typeface="Times New Roman" panose="02020603050405020304" pitchFamily="18" charset="0"/>
                <a:cs typeface="Times New Roman" panose="02020603050405020304" pitchFamily="18" charset="0"/>
                <a:sym typeface="Barlow"/>
              </a:rPr>
              <a:t> Vishal Mohan</a:t>
            </a:r>
          </a:p>
          <a:p>
            <a:pPr marL="514350" marR="0" lvl="0" indent="-514350" algn="ctr" rtl="0">
              <a:lnSpc>
                <a:spcPct val="115000"/>
              </a:lnSpc>
              <a:spcBef>
                <a:spcPts val="0"/>
              </a:spcBef>
              <a:spcAft>
                <a:spcPts val="0"/>
              </a:spcAft>
              <a:buAutoNum type="arabicPeriod"/>
            </a:pPr>
            <a:r>
              <a:rPr lang="en-US" sz="2800" dirty="0">
                <a:solidFill>
                  <a:srgbClr val="1E1B1A"/>
                </a:solidFill>
                <a:latin typeface="Times New Roman" panose="02020603050405020304" pitchFamily="18" charset="0"/>
                <a:cs typeface="Times New Roman" panose="02020603050405020304" pitchFamily="18" charset="0"/>
                <a:sym typeface="Barlow"/>
              </a:rPr>
              <a:t>Kate Sagar Haridas</a:t>
            </a:r>
          </a:p>
          <a:p>
            <a:pPr marL="514350" marR="0" lvl="0" indent="-514350" algn="ctr" rtl="0">
              <a:lnSpc>
                <a:spcPct val="115000"/>
              </a:lnSpc>
              <a:spcBef>
                <a:spcPts val="0"/>
              </a:spcBef>
              <a:spcAft>
                <a:spcPts val="0"/>
              </a:spcAft>
              <a:buAutoNum type="arabicPeriod"/>
            </a:pPr>
            <a:r>
              <a:rPr lang="en-US" sz="2800" dirty="0">
                <a:solidFill>
                  <a:srgbClr val="1E1B1A"/>
                </a:solidFill>
                <a:latin typeface="Times New Roman" panose="02020603050405020304" pitchFamily="18" charset="0"/>
                <a:cs typeface="Times New Roman" panose="02020603050405020304" pitchFamily="18" charset="0"/>
                <a:sym typeface="Barlow"/>
              </a:rPr>
              <a:t>Lalage Tushar </a:t>
            </a:r>
            <a:r>
              <a:rPr lang="en-US" sz="2800" dirty="0" err="1">
                <a:solidFill>
                  <a:srgbClr val="1E1B1A"/>
                </a:solidFill>
                <a:latin typeface="Times New Roman" panose="02020603050405020304" pitchFamily="18" charset="0"/>
                <a:cs typeface="Times New Roman" panose="02020603050405020304" pitchFamily="18" charset="0"/>
                <a:sym typeface="Barlow"/>
              </a:rPr>
              <a:t>Dasharath</a:t>
            </a:r>
            <a:endParaRPr lang="en-US" sz="2800" dirty="0">
              <a:solidFill>
                <a:srgbClr val="1E1B1A"/>
              </a:solidFill>
              <a:latin typeface="Times New Roman" panose="02020603050405020304" pitchFamily="18" charset="0"/>
              <a:cs typeface="Times New Roman" panose="02020603050405020304" pitchFamily="18" charset="0"/>
              <a:sym typeface="Barlow"/>
            </a:endParaRPr>
          </a:p>
          <a:p>
            <a:pPr marL="514350" marR="0" lvl="0" indent="-514350" algn="ctr" rtl="0">
              <a:lnSpc>
                <a:spcPct val="115000"/>
              </a:lnSpc>
              <a:spcBef>
                <a:spcPts val="0"/>
              </a:spcBef>
              <a:spcAft>
                <a:spcPts val="0"/>
              </a:spcAft>
              <a:buAutoNum type="arabicPeriod"/>
            </a:pPr>
            <a:endParaRPr lang="en-US" sz="2800" dirty="0">
              <a:solidFill>
                <a:srgbClr val="1E1B1A"/>
              </a:solidFill>
              <a:latin typeface="Times New Roman" panose="02020603050405020304" pitchFamily="18" charset="0"/>
              <a:cs typeface="Times New Roman" panose="02020603050405020304" pitchFamily="18" charset="0"/>
              <a:sym typeface="Barlow"/>
            </a:endParaRPr>
          </a:p>
          <a:p>
            <a:pPr marR="0" lvl="0" algn="ctr" rtl="0">
              <a:lnSpc>
                <a:spcPct val="115000"/>
              </a:lnSpc>
              <a:spcBef>
                <a:spcPts val="0"/>
              </a:spcBef>
              <a:spcAft>
                <a:spcPts val="0"/>
              </a:spcAft>
            </a:pPr>
            <a:r>
              <a:rPr lang="en-US" sz="2800" dirty="0">
                <a:solidFill>
                  <a:srgbClr val="1E1B1A"/>
                </a:solidFill>
                <a:latin typeface="Times New Roman" panose="02020603050405020304" pitchFamily="18" charset="0"/>
                <a:cs typeface="Times New Roman" panose="02020603050405020304" pitchFamily="18" charset="0"/>
                <a:sym typeface="Barlow"/>
              </a:rPr>
              <a:t>Guided by :- </a:t>
            </a:r>
            <a:r>
              <a:rPr lang="en-US" sz="2800" dirty="0" err="1">
                <a:solidFill>
                  <a:srgbClr val="1E1B1A"/>
                </a:solidFill>
                <a:latin typeface="Times New Roman" panose="02020603050405020304" pitchFamily="18" charset="0"/>
                <a:cs typeface="Times New Roman" panose="02020603050405020304" pitchFamily="18" charset="0"/>
                <a:sym typeface="Barlow"/>
              </a:rPr>
              <a:t>DR.N.B.Dhaigude</a:t>
            </a:r>
            <a:endParaRPr sz="12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48317" y="1257324"/>
            <a:ext cx="8583220" cy="2467676"/>
          </a:xfrm>
          <a:prstGeom prst="rect">
            <a:avLst/>
          </a:prstGeom>
        </p:spPr>
      </p:pic>
      <p:sp>
        <p:nvSpPr>
          <p:cNvPr id="4" name="TextBox 3"/>
          <p:cNvSpPr txBox="1"/>
          <p:nvPr/>
        </p:nvSpPr>
        <p:spPr>
          <a:xfrm>
            <a:off x="7226710" y="4175137"/>
            <a:ext cx="6426610" cy="646331"/>
          </a:xfrm>
          <a:prstGeom prst="rect">
            <a:avLst/>
          </a:prstGeom>
          <a:noFill/>
        </p:spPr>
        <p:txBody>
          <a:bodyPr wrap="square" rtlCol="0">
            <a:spAutoFit/>
          </a:bodyPr>
          <a:lstStyle/>
          <a:p>
            <a:r>
              <a:rPr lang="en-US" sz="3600" b="1" dirty="0">
                <a:latin typeface="Times New Roman" panose="02020603050405020304" pitchFamily="18" charset="0"/>
                <a:cs typeface="Times New Roman" panose="02020603050405020304" pitchFamily="18" charset="0"/>
              </a:rPr>
              <a:t>Review Presentation on</a:t>
            </a:r>
          </a:p>
        </p:txBody>
      </p:sp>
      <p:sp>
        <p:nvSpPr>
          <p:cNvPr id="2" name="Slide Number Placeholder 1"/>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257300" y="547688"/>
            <a:ext cx="15773400" cy="8986838"/>
          </a:xfrm>
          <a:prstGeom prst="rect">
            <a:avLst/>
          </a:prstGeom>
        </p:spPr>
        <p:txBody>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en-US" b="1" dirty="0">
                <a:latin typeface="Times New Roman" panose="02020603050405020304" pitchFamily="18" charset="0"/>
                <a:cs typeface="Times New Roman" panose="02020603050405020304" pitchFamily="18" charset="0"/>
              </a:rPr>
              <a:t>INDEX</a:t>
            </a:r>
          </a:p>
          <a:p>
            <a:pPr algn="ctr"/>
            <a:r>
              <a:rPr lang="en-US" b="1" dirty="0">
                <a:latin typeface="Times New Roman" panose="02020603050405020304" pitchFamily="18" charset="0"/>
                <a:cs typeface="Times New Roman" panose="02020603050405020304" pitchFamily="18" charset="0"/>
              </a:rPr>
              <a:t> </a:t>
            </a:r>
          </a:p>
          <a:p>
            <a:pPr algn="ctr"/>
            <a:endParaRPr lang="en-US" b="1"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z="2800" smtClean="0"/>
              <a:t>2</a:t>
            </a:fld>
            <a:endParaRPr lang="en-US" sz="2800" dirty="0"/>
          </a:p>
        </p:txBody>
      </p:sp>
      <p:graphicFrame>
        <p:nvGraphicFramePr>
          <p:cNvPr id="6" name="Table 5"/>
          <p:cNvGraphicFramePr>
            <a:graphicFrameLocks noGrp="1"/>
          </p:cNvGraphicFramePr>
          <p:nvPr>
            <p:extLst>
              <p:ext uri="{D42A27DB-BD31-4B8C-83A1-F6EECF244321}">
                <p14:modId xmlns:p14="http://schemas.microsoft.com/office/powerpoint/2010/main" val="1800645880"/>
              </p:ext>
            </p:extLst>
          </p:nvPr>
        </p:nvGraphicFramePr>
        <p:xfrm>
          <a:off x="2495550" y="2000250"/>
          <a:ext cx="11746357" cy="6267450"/>
        </p:xfrm>
        <a:graphic>
          <a:graphicData uri="http://schemas.openxmlformats.org/drawingml/2006/table">
            <a:tbl>
              <a:tblPr firstRow="1" bandRow="1">
                <a:tableStyleId>{5940675A-B579-460E-94D1-54222C63F5DA}</a:tableStyleId>
              </a:tblPr>
              <a:tblGrid>
                <a:gridCol w="1306957">
                  <a:extLst>
                    <a:ext uri="{9D8B030D-6E8A-4147-A177-3AD203B41FA5}">
                      <a16:colId xmlns:a16="http://schemas.microsoft.com/office/drawing/2014/main" val="20000"/>
                    </a:ext>
                  </a:extLst>
                </a:gridCol>
                <a:gridCol w="8401050">
                  <a:extLst>
                    <a:ext uri="{9D8B030D-6E8A-4147-A177-3AD203B41FA5}">
                      <a16:colId xmlns:a16="http://schemas.microsoft.com/office/drawing/2014/main" val="20001"/>
                    </a:ext>
                  </a:extLst>
                </a:gridCol>
                <a:gridCol w="2038350">
                  <a:extLst>
                    <a:ext uri="{9D8B030D-6E8A-4147-A177-3AD203B41FA5}">
                      <a16:colId xmlns:a16="http://schemas.microsoft.com/office/drawing/2014/main" val="20002"/>
                    </a:ext>
                  </a:extLst>
                </a:gridCol>
              </a:tblGrid>
              <a:tr h="626745">
                <a:tc>
                  <a:txBody>
                    <a:bodyPr/>
                    <a:lstStyle/>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Sr.No</a:t>
                      </a:r>
                      <a:r>
                        <a:rPr lang="en-US" dirty="0">
                          <a:latin typeface="Times New Roman" panose="02020603050405020304" pitchFamily="18" charset="0"/>
                          <a:cs typeface="Times New Roman" panose="02020603050405020304" pitchFamily="18" charset="0"/>
                        </a:rPr>
                        <a: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a:latin typeface="Times New Roman" panose="02020603050405020304" pitchFamily="18" charset="0"/>
                          <a:cs typeface="Times New Roman" panose="02020603050405020304" pitchFamily="18" charset="0"/>
                        </a:rPr>
                        <a:t>                                   Title</a:t>
                      </a:r>
                      <a:endParaRPr lang="en-US"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a:latin typeface="Times New Roman" panose="02020603050405020304" pitchFamily="18" charset="0"/>
                          <a:cs typeface="Times New Roman" panose="02020603050405020304" pitchFamily="18" charset="0"/>
                        </a:rPr>
                        <a:t>   Page</a:t>
                      </a:r>
                      <a:endParaRPr lang="en-US"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626745">
                <a:tc>
                  <a:txBody>
                    <a:bodyPr/>
                    <a:lstStyle/>
                    <a:p>
                      <a:pPr algn="ctr"/>
                      <a:r>
                        <a:rPr lang="en-US" dirty="0">
                          <a:latin typeface="Times New Roman" panose="02020603050405020304" pitchFamily="18" charset="0"/>
                          <a:cs typeface="Times New Roman" panose="02020603050405020304" pitchFamily="18"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just"/>
                      <a:r>
                        <a:rPr lang="en-US" dirty="0">
                          <a:latin typeface="Times New Roman" panose="02020603050405020304" pitchFamily="18" charset="0"/>
                          <a:cs typeface="Times New Roman" panose="02020603050405020304" pitchFamily="18" charset="0"/>
                        </a:rPr>
                        <a:t>                          Introduction</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just"/>
                      <a:r>
                        <a:rPr lang="en-US">
                          <a:latin typeface="Times New Roman" panose="02020603050405020304" pitchFamily="18" charset="0"/>
                          <a:cs typeface="Times New Roman" panose="02020603050405020304" pitchFamily="18" charset="0"/>
                        </a:rPr>
                        <a:t>      3</a:t>
                      </a:r>
                      <a:endParaRPr lang="en-US"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626745">
                <a:tc>
                  <a:txBody>
                    <a:bodyPr/>
                    <a:lstStyle/>
                    <a:p>
                      <a:pPr algn="ctr"/>
                      <a:r>
                        <a:rPr lang="en-US">
                          <a:latin typeface="Times New Roman" panose="02020603050405020304" pitchFamily="18" charset="0"/>
                          <a:cs typeface="Times New Roman" panose="02020603050405020304" pitchFamily="18" charset="0"/>
                        </a:rPr>
                        <a:t>2</a:t>
                      </a:r>
                      <a:endParaRPr lang="en-US"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just"/>
                      <a:r>
                        <a:rPr lang="en-US" dirty="0">
                          <a:latin typeface="Times New Roman" panose="02020603050405020304" pitchFamily="18" charset="0"/>
                          <a:cs typeface="Times New Roman" panose="02020603050405020304" pitchFamily="18" charset="0"/>
                        </a:rPr>
                        <a:t>                          Literature Survey</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just"/>
                      <a:r>
                        <a:rPr lang="en-US">
                          <a:latin typeface="Times New Roman" panose="02020603050405020304" pitchFamily="18" charset="0"/>
                          <a:cs typeface="Times New Roman" panose="02020603050405020304" pitchFamily="18" charset="0"/>
                        </a:rPr>
                        <a:t>      4</a:t>
                      </a:r>
                      <a:endParaRPr lang="en-US"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626745">
                <a:tc>
                  <a:txBody>
                    <a:bodyPr/>
                    <a:lstStyle/>
                    <a:p>
                      <a:pPr algn="ctr"/>
                      <a:r>
                        <a:rPr lang="en-US">
                          <a:latin typeface="Times New Roman" panose="02020603050405020304" pitchFamily="18" charset="0"/>
                          <a:cs typeface="Times New Roman" panose="02020603050405020304" pitchFamily="18" charset="0"/>
                        </a:rPr>
                        <a:t>3</a:t>
                      </a:r>
                      <a:endParaRPr lang="en-US"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just"/>
                      <a:r>
                        <a:rPr lang="en-US" dirty="0">
                          <a:latin typeface="Times New Roman" panose="02020603050405020304" pitchFamily="18" charset="0"/>
                          <a:cs typeface="Times New Roman" panose="02020603050405020304" pitchFamily="18" charset="0"/>
                        </a:rPr>
                        <a:t>                          Problem Statement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just"/>
                      <a:r>
                        <a:rPr lang="en-US">
                          <a:latin typeface="Times New Roman" panose="02020603050405020304" pitchFamily="18" charset="0"/>
                          <a:cs typeface="Times New Roman" panose="02020603050405020304" pitchFamily="18" charset="0"/>
                        </a:rPr>
                        <a:t>      7</a:t>
                      </a:r>
                      <a:endParaRPr lang="en-US"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626745">
                <a:tc>
                  <a:txBody>
                    <a:bodyPr/>
                    <a:lstStyle/>
                    <a:p>
                      <a:pPr algn="ctr"/>
                      <a:r>
                        <a:rPr lang="en-US">
                          <a:latin typeface="Times New Roman" panose="02020603050405020304" pitchFamily="18" charset="0"/>
                          <a:cs typeface="Times New Roman" panose="02020603050405020304" pitchFamily="18" charset="0"/>
                        </a:rPr>
                        <a:t>4</a:t>
                      </a:r>
                      <a:endParaRPr lang="en-US"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just"/>
                      <a:r>
                        <a:rPr lang="en-US" dirty="0">
                          <a:latin typeface="Times New Roman" panose="02020603050405020304" pitchFamily="18" charset="0"/>
                          <a:cs typeface="Times New Roman" panose="02020603050405020304" pitchFamily="18" charset="0"/>
                        </a:rPr>
                        <a:t>                         Aim</a:t>
                      </a:r>
                      <a:r>
                        <a:rPr lang="en-US" baseline="0" dirty="0">
                          <a:latin typeface="Times New Roman" panose="02020603050405020304" pitchFamily="18" charset="0"/>
                          <a:cs typeface="Times New Roman" panose="02020603050405020304" pitchFamily="18" charset="0"/>
                        </a:rPr>
                        <a:t> and Objective</a:t>
                      </a:r>
                      <a:endParaRPr lang="en-US"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just"/>
                      <a:r>
                        <a:rPr lang="en-US">
                          <a:latin typeface="Times New Roman" panose="02020603050405020304" pitchFamily="18" charset="0"/>
                          <a:cs typeface="Times New Roman" panose="02020603050405020304" pitchFamily="18" charset="0"/>
                        </a:rPr>
                        <a:t>      8</a:t>
                      </a:r>
                      <a:endParaRPr lang="en-US"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626745">
                <a:tc>
                  <a:txBody>
                    <a:bodyPr/>
                    <a:lstStyle/>
                    <a:p>
                      <a:pPr algn="ctr"/>
                      <a:r>
                        <a:rPr lang="en-US">
                          <a:latin typeface="Times New Roman" panose="02020603050405020304" pitchFamily="18" charset="0"/>
                          <a:cs typeface="Times New Roman" panose="02020603050405020304" pitchFamily="18" charset="0"/>
                        </a:rPr>
                        <a:t>5</a:t>
                      </a:r>
                      <a:endParaRPr lang="en-US"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just"/>
                      <a:r>
                        <a:rPr lang="en-US" dirty="0">
                          <a:latin typeface="Times New Roman" panose="02020603050405020304" pitchFamily="18" charset="0"/>
                          <a:cs typeface="Times New Roman" panose="02020603050405020304" pitchFamily="18" charset="0"/>
                        </a:rPr>
                        <a:t>                         Components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just"/>
                      <a:r>
                        <a:rPr lang="en-US">
                          <a:latin typeface="Times New Roman" panose="02020603050405020304" pitchFamily="18" charset="0"/>
                          <a:cs typeface="Times New Roman" panose="02020603050405020304" pitchFamily="18" charset="0"/>
                        </a:rPr>
                        <a:t>      9</a:t>
                      </a:r>
                      <a:endParaRPr lang="en-US"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626745">
                <a:tc>
                  <a:txBody>
                    <a:bodyPr/>
                    <a:lstStyle/>
                    <a:p>
                      <a:pPr algn="ctr"/>
                      <a:r>
                        <a:rPr lang="en-US">
                          <a:latin typeface="Times New Roman" panose="02020603050405020304" pitchFamily="18" charset="0"/>
                          <a:cs typeface="Times New Roman" panose="02020603050405020304" pitchFamily="18" charset="0"/>
                        </a:rPr>
                        <a:t>6</a:t>
                      </a:r>
                      <a:endParaRPr lang="en-US"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just"/>
                      <a:r>
                        <a:rPr lang="en-US" dirty="0">
                          <a:latin typeface="Times New Roman" panose="02020603050405020304" pitchFamily="18" charset="0"/>
                          <a:cs typeface="Times New Roman" panose="02020603050405020304" pitchFamily="18" charset="0"/>
                        </a:rPr>
                        <a:t>                         Block Diagram</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just"/>
                      <a:r>
                        <a:rPr lang="en-US">
                          <a:latin typeface="Times New Roman" panose="02020603050405020304" pitchFamily="18" charset="0"/>
                          <a:cs typeface="Times New Roman" panose="02020603050405020304" pitchFamily="18" charset="0"/>
                        </a:rPr>
                        <a:t>     10</a:t>
                      </a:r>
                      <a:endParaRPr lang="en-US"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626745">
                <a:tc>
                  <a:txBody>
                    <a:bodyPr/>
                    <a:lstStyle/>
                    <a:p>
                      <a:pPr algn="ctr"/>
                      <a:r>
                        <a:rPr lang="en-US">
                          <a:latin typeface="Times New Roman" panose="02020603050405020304" pitchFamily="18" charset="0"/>
                          <a:cs typeface="Times New Roman" panose="02020603050405020304" pitchFamily="18" charset="0"/>
                        </a:rPr>
                        <a:t>7</a:t>
                      </a:r>
                      <a:endParaRPr lang="en-US"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just"/>
                      <a:r>
                        <a:rPr lang="en-US">
                          <a:latin typeface="Times New Roman" panose="02020603050405020304" pitchFamily="18" charset="0"/>
                          <a:cs typeface="Times New Roman" panose="02020603050405020304" pitchFamily="18" charset="0"/>
                        </a:rPr>
                        <a:t>                         Advantages</a:t>
                      </a:r>
                      <a:endParaRPr lang="en-US"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just"/>
                      <a:r>
                        <a:rPr lang="en-US">
                          <a:latin typeface="Times New Roman" panose="02020603050405020304" pitchFamily="18" charset="0"/>
                          <a:cs typeface="Times New Roman" panose="02020603050405020304" pitchFamily="18" charset="0"/>
                        </a:rPr>
                        <a:t>     11</a:t>
                      </a:r>
                      <a:endParaRPr lang="en-US"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626745">
                <a:tc>
                  <a:txBody>
                    <a:bodyPr/>
                    <a:lstStyle/>
                    <a:p>
                      <a:pPr algn="ctr"/>
                      <a:r>
                        <a:rPr lang="en-US">
                          <a:latin typeface="Times New Roman" panose="02020603050405020304" pitchFamily="18" charset="0"/>
                          <a:cs typeface="Times New Roman" panose="02020603050405020304" pitchFamily="18" charset="0"/>
                        </a:rPr>
                        <a:t>8</a:t>
                      </a:r>
                      <a:endParaRPr lang="en-US"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just"/>
                      <a:r>
                        <a:rPr lang="en-US" dirty="0">
                          <a:latin typeface="Times New Roman" panose="02020603050405020304" pitchFamily="18" charset="0"/>
                          <a:cs typeface="Times New Roman" panose="02020603050405020304" pitchFamily="18" charset="0"/>
                        </a:rPr>
                        <a:t>                         Conclusion</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just"/>
                      <a:r>
                        <a:rPr lang="en-US">
                          <a:latin typeface="Times New Roman" panose="02020603050405020304" pitchFamily="18" charset="0"/>
                          <a:cs typeface="Times New Roman" panose="02020603050405020304" pitchFamily="18" charset="0"/>
                        </a:rPr>
                        <a:t>     12</a:t>
                      </a:r>
                      <a:endParaRPr lang="en-US"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8"/>
                  </a:ext>
                </a:extLst>
              </a:tr>
              <a:tr h="626745">
                <a:tc>
                  <a:txBody>
                    <a:bodyPr/>
                    <a:lstStyle/>
                    <a:p>
                      <a:pPr algn="ctr"/>
                      <a:r>
                        <a:rPr lang="en-US">
                          <a:latin typeface="Times New Roman" panose="02020603050405020304" pitchFamily="18" charset="0"/>
                          <a:cs typeface="Times New Roman" panose="02020603050405020304" pitchFamily="18" charset="0"/>
                        </a:rPr>
                        <a:t>9</a:t>
                      </a:r>
                      <a:endParaRPr lang="en-US"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just"/>
                      <a:r>
                        <a:rPr lang="en-US">
                          <a:latin typeface="Times New Roman" panose="02020603050405020304" pitchFamily="18" charset="0"/>
                          <a:cs typeface="Times New Roman" panose="02020603050405020304" pitchFamily="18" charset="0"/>
                        </a:rPr>
                        <a:t>                         References</a:t>
                      </a:r>
                      <a:endParaRPr lang="en-US"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just"/>
                      <a:r>
                        <a:rPr lang="en-US" dirty="0">
                          <a:latin typeface="Times New Roman" panose="02020603050405020304" pitchFamily="18" charset="0"/>
                          <a:cs typeface="Times New Roman" panose="02020603050405020304" pitchFamily="18" charset="0"/>
                        </a:rPr>
                        <a:t>     13</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3845648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INTRODUCTION</a:t>
            </a:r>
          </a:p>
        </p:txBody>
      </p:sp>
      <p:sp>
        <p:nvSpPr>
          <p:cNvPr id="3" name="Content Placeholder 2"/>
          <p:cNvSpPr>
            <a:spLocks noGrp="1"/>
          </p:cNvSpPr>
          <p:nvPr>
            <p:ph idx="1"/>
          </p:nvPr>
        </p:nvSpPr>
        <p:spPr>
          <a:xfrm>
            <a:off x="1257300" y="2875935"/>
            <a:ext cx="15773400" cy="6422848"/>
          </a:xfrm>
        </p:spPr>
        <p:txBody>
          <a:bodyPr>
            <a:normAutofit/>
          </a:bodyPr>
          <a:lstStyle/>
          <a:p>
            <a:pPr marL="0" indent="0">
              <a:buNone/>
            </a:pPr>
            <a:r>
              <a:rPr lang="en-US" sz="3600" b="0" i="0" dirty="0">
                <a:solidFill>
                  <a:srgbClr val="767575"/>
                </a:solidFill>
                <a:effectLst/>
                <a:latin typeface="Times New Roman" panose="02020603050405020304" pitchFamily="18" charset="0"/>
                <a:cs typeface="Times New Roman" panose="02020603050405020304" pitchFamily="18" charset="0"/>
              </a:rPr>
              <a:t>                                  </a:t>
            </a:r>
            <a:r>
              <a:rPr lang="en-US" sz="2800" b="0" i="0" dirty="0">
                <a:effectLst/>
                <a:latin typeface="Times New Roman" panose="02020603050405020304" pitchFamily="18" charset="0"/>
                <a:cs typeface="Times New Roman" panose="02020603050405020304" pitchFamily="18" charset="0"/>
              </a:rPr>
              <a:t>This system can be used to monitor and update weather conditions over the internet. The system monitors 3 parameters namely temperature, humidity and rainfall these values are then displayed on LCD and also updated over the IoT gecko. By readings, the user can get a fair idea of the weather of a particular area on the monitor. This system proves to be useful for knowing the weather of the localized area. The system is powered by Raspberry Pi it includes a raindrop sensor, a temperature sensor, LCD and a buzzer. After turning the system on, the system gets connected to the website by using WIFI. The system keeps track of 3 parameters like temperature, humidity, and rain. As the weather changes the system to monitor and updates the status over the IOT when the area is dry it shows zero value. When the system detects raindrop, it shows the value of the increase in rainfall. When the temperature increases the value gets updated. The user can observe the weather status of a particular area from any remote location.</a:t>
            </a:r>
            <a:endParaRPr lang="en-US" sz="2800" dirty="0"/>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Tree>
    <p:extLst>
      <p:ext uri="{BB962C8B-B14F-4D97-AF65-F5344CB8AC3E}">
        <p14:creationId xmlns:p14="http://schemas.microsoft.com/office/powerpoint/2010/main" val="30414626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766762903"/>
              </p:ext>
            </p:extLst>
          </p:nvPr>
        </p:nvGraphicFramePr>
        <p:xfrm>
          <a:off x="1086904" y="2004923"/>
          <a:ext cx="15797716" cy="8018657"/>
        </p:xfrm>
        <a:graphic>
          <a:graphicData uri="http://schemas.openxmlformats.org/drawingml/2006/table">
            <a:tbl>
              <a:tblPr firstRow="1" bandRow="1">
                <a:tableStyleId>{5940675A-B579-460E-94D1-54222C63F5DA}</a:tableStyleId>
              </a:tblPr>
              <a:tblGrid>
                <a:gridCol w="1033375">
                  <a:extLst>
                    <a:ext uri="{9D8B030D-6E8A-4147-A177-3AD203B41FA5}">
                      <a16:colId xmlns:a16="http://schemas.microsoft.com/office/drawing/2014/main" val="20000"/>
                    </a:ext>
                  </a:extLst>
                </a:gridCol>
                <a:gridCol w="3041997">
                  <a:extLst>
                    <a:ext uri="{9D8B030D-6E8A-4147-A177-3AD203B41FA5}">
                      <a16:colId xmlns:a16="http://schemas.microsoft.com/office/drawing/2014/main" val="20001"/>
                    </a:ext>
                  </a:extLst>
                </a:gridCol>
                <a:gridCol w="2352129">
                  <a:extLst>
                    <a:ext uri="{9D8B030D-6E8A-4147-A177-3AD203B41FA5}">
                      <a16:colId xmlns:a16="http://schemas.microsoft.com/office/drawing/2014/main" val="20002"/>
                    </a:ext>
                  </a:extLst>
                </a:gridCol>
                <a:gridCol w="2123675">
                  <a:extLst>
                    <a:ext uri="{9D8B030D-6E8A-4147-A177-3AD203B41FA5}">
                      <a16:colId xmlns:a16="http://schemas.microsoft.com/office/drawing/2014/main" val="20003"/>
                    </a:ext>
                  </a:extLst>
                </a:gridCol>
                <a:gridCol w="7246540">
                  <a:extLst>
                    <a:ext uri="{9D8B030D-6E8A-4147-A177-3AD203B41FA5}">
                      <a16:colId xmlns:a16="http://schemas.microsoft.com/office/drawing/2014/main" val="20004"/>
                    </a:ext>
                  </a:extLst>
                </a:gridCol>
              </a:tblGrid>
              <a:tr h="1595359">
                <a:tc>
                  <a:txBody>
                    <a:bodyPr/>
                    <a:lstStyle/>
                    <a:p>
                      <a:pPr algn="ctr"/>
                      <a:endParaRPr lang="en-US" sz="2400" dirty="0">
                        <a:latin typeface="Times New Roman" panose="02020603050405020304" pitchFamily="18" charset="0"/>
                        <a:cs typeface="Times New Roman" panose="02020603050405020304" pitchFamily="18" charset="0"/>
                      </a:endParaRPr>
                    </a:p>
                    <a:p>
                      <a:pPr algn="ctr"/>
                      <a:r>
                        <a:rPr lang="en-US" sz="2400" dirty="0" err="1">
                          <a:latin typeface="Times New Roman" panose="02020603050405020304" pitchFamily="18" charset="0"/>
                          <a:cs typeface="Times New Roman" panose="02020603050405020304" pitchFamily="18" charset="0"/>
                        </a:rPr>
                        <a:t>Sr.</a:t>
                      </a:r>
                      <a:r>
                        <a:rPr lang="en-US" sz="2400" baseline="0" dirty="0" err="1">
                          <a:latin typeface="Times New Roman" panose="02020603050405020304" pitchFamily="18" charset="0"/>
                          <a:cs typeface="Times New Roman" panose="02020603050405020304" pitchFamily="18" charset="0"/>
                        </a:rPr>
                        <a:t>No</a:t>
                      </a:r>
                      <a:r>
                        <a:rPr lang="en-US" sz="2400" baseline="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txBody>
                  <a:tcPr>
                    <a:solidFill>
                      <a:schemeClr val="tx2">
                        <a:lumMod val="20000"/>
                        <a:lumOff val="80000"/>
                      </a:schemeClr>
                    </a:solidFill>
                  </a:tcPr>
                </a:tc>
                <a:tc>
                  <a:txBody>
                    <a:bodyPr/>
                    <a:lstStyle/>
                    <a:p>
                      <a:pPr algn="ctr"/>
                      <a:endParaRPr lang="en-US" sz="2400" dirty="0">
                        <a:latin typeface="Times New Roman" panose="02020603050405020304" pitchFamily="18" charset="0"/>
                        <a:cs typeface="Times New Roman" panose="02020603050405020304" pitchFamily="18" charset="0"/>
                      </a:endParaRPr>
                    </a:p>
                    <a:p>
                      <a:pPr algn="ctr"/>
                      <a:r>
                        <a:rPr lang="en-US" sz="2400" dirty="0">
                          <a:latin typeface="Times New Roman" panose="02020603050405020304" pitchFamily="18" charset="0"/>
                          <a:cs typeface="Times New Roman" panose="02020603050405020304" pitchFamily="18" charset="0"/>
                        </a:rPr>
                        <a:t>Authors</a:t>
                      </a:r>
                      <a:endParaRPr lang="en-IN" sz="2400" dirty="0">
                        <a:latin typeface="Times New Roman" panose="02020603050405020304" pitchFamily="18" charset="0"/>
                        <a:cs typeface="Times New Roman" panose="02020603050405020304" pitchFamily="18" charset="0"/>
                      </a:endParaRPr>
                    </a:p>
                  </a:txBody>
                  <a:tcPr>
                    <a:solidFill>
                      <a:schemeClr val="tx2">
                        <a:lumMod val="20000"/>
                        <a:lumOff val="80000"/>
                      </a:schemeClr>
                    </a:solidFill>
                  </a:tcPr>
                </a:tc>
                <a:tc>
                  <a:txBody>
                    <a:bodyPr/>
                    <a:lstStyle/>
                    <a:p>
                      <a:pPr algn="ctr"/>
                      <a:endParaRPr lang="en-US" sz="2400" dirty="0">
                        <a:latin typeface="Times New Roman" panose="02020603050405020304" pitchFamily="18" charset="0"/>
                        <a:cs typeface="Times New Roman" panose="02020603050405020304" pitchFamily="18" charset="0"/>
                      </a:endParaRPr>
                    </a:p>
                    <a:p>
                      <a:pPr algn="ctr"/>
                      <a:r>
                        <a:rPr lang="en-US" sz="2400" dirty="0">
                          <a:latin typeface="Times New Roman" panose="02020603050405020304" pitchFamily="18" charset="0"/>
                          <a:cs typeface="Times New Roman" panose="02020603050405020304" pitchFamily="18" charset="0"/>
                        </a:rPr>
                        <a:t>Title</a:t>
                      </a:r>
                      <a:endParaRPr lang="en-IN" sz="2400" dirty="0">
                        <a:latin typeface="Times New Roman" panose="02020603050405020304" pitchFamily="18" charset="0"/>
                        <a:cs typeface="Times New Roman" panose="02020603050405020304" pitchFamily="18" charset="0"/>
                      </a:endParaRPr>
                    </a:p>
                  </a:txBody>
                  <a:tcPr>
                    <a:solidFill>
                      <a:schemeClr val="tx2">
                        <a:lumMod val="20000"/>
                        <a:lumOff val="80000"/>
                      </a:schemeClr>
                    </a:solidFill>
                  </a:tcPr>
                </a:tc>
                <a:tc>
                  <a:txBody>
                    <a:bodyPr/>
                    <a:lstStyle/>
                    <a:p>
                      <a:pPr algn="ctr"/>
                      <a:endParaRPr lang="en-US" sz="2400" dirty="0">
                        <a:latin typeface="Times New Roman" panose="02020603050405020304" pitchFamily="18" charset="0"/>
                        <a:cs typeface="Times New Roman" panose="02020603050405020304" pitchFamily="18" charset="0"/>
                      </a:endParaRPr>
                    </a:p>
                    <a:p>
                      <a:pPr algn="ctr"/>
                      <a:r>
                        <a:rPr lang="en-US" sz="2400" dirty="0">
                          <a:latin typeface="Times New Roman" panose="02020603050405020304" pitchFamily="18" charset="0"/>
                          <a:cs typeface="Times New Roman" panose="02020603050405020304" pitchFamily="18" charset="0"/>
                        </a:rPr>
                        <a:t>Methodology</a:t>
                      </a:r>
                      <a:endParaRPr lang="en-IN" sz="2400" dirty="0">
                        <a:latin typeface="Times New Roman" panose="02020603050405020304" pitchFamily="18" charset="0"/>
                        <a:cs typeface="Times New Roman" panose="02020603050405020304" pitchFamily="18" charset="0"/>
                      </a:endParaRPr>
                    </a:p>
                  </a:txBody>
                  <a:tcPr>
                    <a:solidFill>
                      <a:schemeClr val="tx2">
                        <a:lumMod val="20000"/>
                        <a:lumOff val="80000"/>
                      </a:schemeClr>
                    </a:solidFill>
                  </a:tcPr>
                </a:tc>
                <a:tc>
                  <a:txBody>
                    <a:bodyPr/>
                    <a:lstStyle/>
                    <a:p>
                      <a:pPr algn="ctr"/>
                      <a:endParaRPr lang="en-US" sz="2400" dirty="0">
                        <a:latin typeface="Times New Roman" panose="02020603050405020304" pitchFamily="18" charset="0"/>
                        <a:cs typeface="Times New Roman" panose="02020603050405020304" pitchFamily="18" charset="0"/>
                      </a:endParaRPr>
                    </a:p>
                    <a:p>
                      <a:pPr algn="ctr"/>
                      <a:r>
                        <a:rPr lang="en-US" sz="2400" dirty="0">
                          <a:latin typeface="Times New Roman" panose="02020603050405020304" pitchFamily="18" charset="0"/>
                          <a:cs typeface="Times New Roman" panose="02020603050405020304" pitchFamily="18" charset="0"/>
                        </a:rPr>
                        <a:t>Description</a:t>
                      </a:r>
                      <a:endParaRPr lang="en-IN" sz="2400" dirty="0">
                        <a:latin typeface="Times New Roman" panose="02020603050405020304" pitchFamily="18" charset="0"/>
                        <a:cs typeface="Times New Roman" panose="02020603050405020304" pitchFamily="18" charset="0"/>
                      </a:endParaRPr>
                    </a:p>
                  </a:txBody>
                  <a:tcPr>
                    <a:solidFill>
                      <a:schemeClr val="tx2">
                        <a:lumMod val="20000"/>
                        <a:lumOff val="80000"/>
                      </a:schemeClr>
                    </a:solidFill>
                  </a:tcPr>
                </a:tc>
                <a:extLst>
                  <a:ext uri="{0D108BD9-81ED-4DB2-BD59-A6C34878D82A}">
                    <a16:rowId xmlns:a16="http://schemas.microsoft.com/office/drawing/2014/main" val="10000"/>
                  </a:ext>
                </a:extLst>
              </a:tr>
              <a:tr h="3040018">
                <a:tc>
                  <a:txBody>
                    <a:bodyPr/>
                    <a:lstStyle/>
                    <a:p>
                      <a:pPr algn="ctr"/>
                      <a:r>
                        <a:rPr lang="en-US" sz="2400" dirty="0"/>
                        <a:t>1.</a:t>
                      </a:r>
                      <a:endParaRPr lang="en-IN" sz="2400" dirty="0"/>
                    </a:p>
                  </a:txBody>
                  <a:tcPr/>
                </a:tc>
                <a:tc>
                  <a:txBody>
                    <a:bodyPr/>
                    <a:lstStyle/>
                    <a:p>
                      <a:pPr algn="ctr"/>
                      <a:r>
                        <a:rPr lang="en-US" sz="2700" b="0" i="0" u="none" strike="noStrike" kern="1200" baseline="0" dirty="0">
                          <a:solidFill>
                            <a:schemeClr val="tx1"/>
                          </a:solidFill>
                          <a:latin typeface="Times New Roman" panose="02020603050405020304" pitchFamily="18" charset="0"/>
                          <a:ea typeface="+mn-ea"/>
                          <a:cs typeface="Times New Roman" panose="02020603050405020304" pitchFamily="18" charset="0"/>
                        </a:rPr>
                        <a:t>A F Pauzi1 and M Z Hasan1 </a:t>
                      </a:r>
                      <a:endParaRPr lang="en-IN" sz="2400" b="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Interactive Weather Monitoring and Control System</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IOT</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700" b="0" i="0" u="none" strike="noStrike" kern="1200" baseline="0" dirty="0">
                          <a:solidFill>
                            <a:schemeClr val="tx1"/>
                          </a:solidFill>
                          <a:latin typeface="Times New Roman" panose="02020603050405020304" pitchFamily="18" charset="0"/>
                          <a:ea typeface="+mn-ea"/>
                          <a:cs typeface="Times New Roman" panose="02020603050405020304" pitchFamily="18" charset="0"/>
                        </a:rPr>
                        <a:t>Weather forecast these days is unpredictable too be exact because of the climate changes drastically over weather. In cause of that, Weather Reporting System is mostly used to monitor the continuously changing climatic and weather conditions over controlled areas likes house, industry, agriculture and etc. </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3040018">
                <a:tc>
                  <a:txBody>
                    <a:bodyPr/>
                    <a:lstStyle/>
                    <a:p>
                      <a:pPr algn="ctr"/>
                      <a:r>
                        <a:rPr lang="en-US" sz="2400" dirty="0"/>
                        <a:t>2.</a:t>
                      </a:r>
                      <a:endParaRPr lang="en-IN" sz="2400" dirty="0"/>
                    </a:p>
                  </a:txBody>
                  <a:tcPr/>
                </a:tc>
                <a:tc>
                  <a:txBody>
                    <a:bodyPr/>
                    <a:lstStyle/>
                    <a:p>
                      <a:pPr algn="ctr"/>
                      <a:r>
                        <a:rPr lang="en-US" sz="2700" b="0" i="0" u="none" strike="noStrike" kern="1200" baseline="0" dirty="0">
                          <a:solidFill>
                            <a:schemeClr val="tx1"/>
                          </a:solidFill>
                          <a:latin typeface="Times New Roman" panose="02020603050405020304" pitchFamily="18" charset="0"/>
                          <a:ea typeface="+mn-ea"/>
                          <a:cs typeface="Times New Roman" panose="02020603050405020304" pitchFamily="18" charset="0"/>
                        </a:rPr>
                        <a:t>Puja Sharma1 and Shiva Prakash2 </a:t>
                      </a:r>
                      <a:endParaRPr lang="en-IN" sz="2400" b="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Real-time Weather Monitoring System using Raspberry Pi</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err="1">
                          <a:latin typeface="Times New Roman" panose="02020603050405020304" pitchFamily="18" charset="0"/>
                          <a:cs typeface="Times New Roman" panose="02020603050405020304" pitchFamily="18" charset="0"/>
                        </a:rPr>
                        <a:t>Arduino</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700" b="0" i="0" u="none" strike="noStrike" kern="1200" baseline="0" dirty="0">
                          <a:solidFill>
                            <a:schemeClr val="tx1"/>
                          </a:solidFill>
                          <a:latin typeface="Times New Roman" panose="02020603050405020304" pitchFamily="18" charset="0"/>
                          <a:ea typeface="+mn-ea"/>
                          <a:cs typeface="Times New Roman" panose="02020603050405020304" pitchFamily="18" charset="0"/>
                        </a:rPr>
                        <a:t>In Today’s World, knowing live environmental condition is one of the biggest issues because there is an IoT of hurdles arrives when live environmental condition is measured. The proposed system will remove this problem since it monitors real- time weather conditions. In this proposed work we will monitor the live weather’s parameter of the Gorakhpur Region </a:t>
                      </a:r>
                      <a:r>
                        <a:rPr lang="en-US"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bl>
          </a:graphicData>
        </a:graphic>
      </p:graphicFrame>
      <p:sp>
        <p:nvSpPr>
          <p:cNvPr id="3" name="TextBox 2"/>
          <p:cNvSpPr txBox="1"/>
          <p:nvPr/>
        </p:nvSpPr>
        <p:spPr>
          <a:xfrm>
            <a:off x="1031132" y="856033"/>
            <a:ext cx="9455285" cy="1015663"/>
          </a:xfrm>
          <a:prstGeom prst="rect">
            <a:avLst/>
          </a:prstGeom>
          <a:noFill/>
        </p:spPr>
        <p:txBody>
          <a:bodyPr wrap="square" rtlCol="0">
            <a:spAutoFit/>
          </a:bodyPr>
          <a:lstStyle/>
          <a:p>
            <a:r>
              <a:rPr lang="en-US" sz="6000" b="1" dirty="0">
                <a:latin typeface="Times New Roman" panose="02020603050405020304" pitchFamily="18" charset="0"/>
                <a:cs typeface="Times New Roman" panose="02020603050405020304" pitchFamily="18" charset="0"/>
              </a:rPr>
              <a:t>LITERATURE SURVEY</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spTree>
    <p:extLst>
      <p:ext uri="{BB962C8B-B14F-4D97-AF65-F5344CB8AC3E}">
        <p14:creationId xmlns:p14="http://schemas.microsoft.com/office/powerpoint/2010/main" val="28919058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916246345"/>
              </p:ext>
            </p:extLst>
          </p:nvPr>
        </p:nvGraphicFramePr>
        <p:xfrm>
          <a:off x="860251" y="2063557"/>
          <a:ext cx="15797716" cy="8018657"/>
        </p:xfrm>
        <a:graphic>
          <a:graphicData uri="http://schemas.openxmlformats.org/drawingml/2006/table">
            <a:tbl>
              <a:tblPr firstRow="1" bandRow="1">
                <a:tableStyleId>{5940675A-B579-460E-94D1-54222C63F5DA}</a:tableStyleId>
              </a:tblPr>
              <a:tblGrid>
                <a:gridCol w="1033375">
                  <a:extLst>
                    <a:ext uri="{9D8B030D-6E8A-4147-A177-3AD203B41FA5}">
                      <a16:colId xmlns:a16="http://schemas.microsoft.com/office/drawing/2014/main" val="20000"/>
                    </a:ext>
                  </a:extLst>
                </a:gridCol>
                <a:gridCol w="3041997">
                  <a:extLst>
                    <a:ext uri="{9D8B030D-6E8A-4147-A177-3AD203B41FA5}">
                      <a16:colId xmlns:a16="http://schemas.microsoft.com/office/drawing/2014/main" val="20001"/>
                    </a:ext>
                  </a:extLst>
                </a:gridCol>
                <a:gridCol w="2394325">
                  <a:extLst>
                    <a:ext uri="{9D8B030D-6E8A-4147-A177-3AD203B41FA5}">
                      <a16:colId xmlns:a16="http://schemas.microsoft.com/office/drawing/2014/main" val="20002"/>
                    </a:ext>
                  </a:extLst>
                </a:gridCol>
                <a:gridCol w="2081479">
                  <a:extLst>
                    <a:ext uri="{9D8B030D-6E8A-4147-A177-3AD203B41FA5}">
                      <a16:colId xmlns:a16="http://schemas.microsoft.com/office/drawing/2014/main" val="20003"/>
                    </a:ext>
                  </a:extLst>
                </a:gridCol>
                <a:gridCol w="7246540">
                  <a:extLst>
                    <a:ext uri="{9D8B030D-6E8A-4147-A177-3AD203B41FA5}">
                      <a16:colId xmlns:a16="http://schemas.microsoft.com/office/drawing/2014/main" val="20004"/>
                    </a:ext>
                  </a:extLst>
                </a:gridCol>
              </a:tblGrid>
              <a:tr h="1595359">
                <a:tc>
                  <a:txBody>
                    <a:bodyPr/>
                    <a:lstStyle/>
                    <a:p>
                      <a:pPr algn="ctr"/>
                      <a:endParaRPr lang="en-US" sz="2400" dirty="0"/>
                    </a:p>
                    <a:p>
                      <a:pPr algn="ctr"/>
                      <a:r>
                        <a:rPr lang="en-US" sz="2400" dirty="0"/>
                        <a:t>Sr.</a:t>
                      </a:r>
                      <a:r>
                        <a:rPr lang="en-US" sz="2400" baseline="0" dirty="0"/>
                        <a:t> No.</a:t>
                      </a:r>
                      <a:endParaRPr lang="en-IN" sz="2400" dirty="0"/>
                    </a:p>
                  </a:txBody>
                  <a:tcPr>
                    <a:solidFill>
                      <a:schemeClr val="tx2">
                        <a:lumMod val="20000"/>
                        <a:lumOff val="80000"/>
                      </a:schemeClr>
                    </a:solidFill>
                  </a:tcPr>
                </a:tc>
                <a:tc>
                  <a:txBody>
                    <a:bodyPr/>
                    <a:lstStyle/>
                    <a:p>
                      <a:pPr algn="ctr"/>
                      <a:endParaRPr lang="en-US" sz="2400" dirty="0"/>
                    </a:p>
                    <a:p>
                      <a:pPr algn="ctr"/>
                      <a:r>
                        <a:rPr lang="en-US" sz="2400" dirty="0"/>
                        <a:t>Authors</a:t>
                      </a:r>
                      <a:endParaRPr lang="en-IN" sz="2400" dirty="0"/>
                    </a:p>
                  </a:txBody>
                  <a:tcPr>
                    <a:solidFill>
                      <a:schemeClr val="tx2">
                        <a:lumMod val="20000"/>
                        <a:lumOff val="80000"/>
                      </a:schemeClr>
                    </a:solidFill>
                  </a:tcPr>
                </a:tc>
                <a:tc>
                  <a:txBody>
                    <a:bodyPr/>
                    <a:lstStyle/>
                    <a:p>
                      <a:pPr algn="ctr"/>
                      <a:endParaRPr lang="en-US" sz="2400" dirty="0"/>
                    </a:p>
                    <a:p>
                      <a:pPr algn="ctr"/>
                      <a:r>
                        <a:rPr lang="en-US" sz="2400" dirty="0"/>
                        <a:t>Title</a:t>
                      </a:r>
                      <a:endParaRPr lang="en-IN" sz="2400" dirty="0"/>
                    </a:p>
                  </a:txBody>
                  <a:tcPr>
                    <a:solidFill>
                      <a:schemeClr val="tx2">
                        <a:lumMod val="20000"/>
                        <a:lumOff val="80000"/>
                      </a:schemeClr>
                    </a:solidFill>
                  </a:tcPr>
                </a:tc>
                <a:tc>
                  <a:txBody>
                    <a:bodyPr/>
                    <a:lstStyle/>
                    <a:p>
                      <a:pPr algn="ctr"/>
                      <a:endParaRPr lang="en-US" sz="2400" dirty="0"/>
                    </a:p>
                    <a:p>
                      <a:pPr algn="ctr"/>
                      <a:r>
                        <a:rPr lang="en-US" sz="2400" dirty="0"/>
                        <a:t>Methodology</a:t>
                      </a:r>
                      <a:endParaRPr lang="en-IN" sz="2400" dirty="0"/>
                    </a:p>
                  </a:txBody>
                  <a:tcPr>
                    <a:solidFill>
                      <a:schemeClr val="tx2">
                        <a:lumMod val="20000"/>
                        <a:lumOff val="80000"/>
                      </a:schemeClr>
                    </a:solidFill>
                  </a:tcPr>
                </a:tc>
                <a:tc>
                  <a:txBody>
                    <a:bodyPr/>
                    <a:lstStyle/>
                    <a:p>
                      <a:pPr algn="ctr"/>
                      <a:endParaRPr lang="en-US" sz="2400" dirty="0"/>
                    </a:p>
                    <a:p>
                      <a:pPr algn="ctr"/>
                      <a:r>
                        <a:rPr lang="en-US" sz="2400" dirty="0"/>
                        <a:t>Description</a:t>
                      </a:r>
                      <a:endParaRPr lang="en-IN" sz="2400" dirty="0"/>
                    </a:p>
                  </a:txBody>
                  <a:tcPr>
                    <a:solidFill>
                      <a:schemeClr val="tx2">
                        <a:lumMod val="20000"/>
                        <a:lumOff val="80000"/>
                      </a:schemeClr>
                    </a:solidFill>
                  </a:tcPr>
                </a:tc>
                <a:extLst>
                  <a:ext uri="{0D108BD9-81ED-4DB2-BD59-A6C34878D82A}">
                    <a16:rowId xmlns:a16="http://schemas.microsoft.com/office/drawing/2014/main" val="10000"/>
                  </a:ext>
                </a:extLst>
              </a:tr>
              <a:tr h="3040018">
                <a:tc>
                  <a:txBody>
                    <a:bodyPr/>
                    <a:lstStyle/>
                    <a:p>
                      <a:pPr algn="ctr"/>
                      <a:r>
                        <a:rPr lang="en-US" sz="2400" dirty="0"/>
                        <a:t>3.</a:t>
                      </a:r>
                      <a:endParaRPr lang="en-IN" sz="2400" dirty="0"/>
                    </a:p>
                  </a:txBody>
                  <a:tcPr/>
                </a:tc>
                <a:tc>
                  <a:txBody>
                    <a:bodyPr/>
                    <a:lstStyle/>
                    <a:p>
                      <a:pPr algn="ctr"/>
                      <a:r>
                        <a:rPr lang="en-IN" sz="2700" b="0" i="0" u="none" strike="noStrike" kern="1200" baseline="0" dirty="0">
                          <a:solidFill>
                            <a:schemeClr val="tx1"/>
                          </a:solidFill>
                          <a:latin typeface="Times New Roman" panose="02020603050405020304" pitchFamily="18" charset="0"/>
                          <a:ea typeface="+mn-ea"/>
                          <a:cs typeface="Times New Roman" panose="02020603050405020304" pitchFamily="18" charset="0"/>
                        </a:rPr>
                        <a:t>Jamal </a:t>
                      </a:r>
                      <a:r>
                        <a:rPr lang="en-IN" sz="2700" b="0" i="0" u="none" strike="noStrike" kern="1200" baseline="0" dirty="0" err="1">
                          <a:solidFill>
                            <a:schemeClr val="tx1"/>
                          </a:solidFill>
                          <a:latin typeface="Times New Roman" panose="02020603050405020304" pitchFamily="18" charset="0"/>
                          <a:ea typeface="+mn-ea"/>
                          <a:cs typeface="Times New Roman" panose="02020603050405020304" pitchFamily="18" charset="0"/>
                        </a:rPr>
                        <a:t>Mabrouki</a:t>
                      </a:r>
                      <a:r>
                        <a:rPr lang="en-IN" sz="2700" b="0" i="0" u="none" strike="noStrike" kern="1200" baseline="0" dirty="0">
                          <a:solidFill>
                            <a:schemeClr val="tx1"/>
                          </a:solidFill>
                          <a:latin typeface="Times New Roman" panose="02020603050405020304" pitchFamily="18" charset="0"/>
                          <a:ea typeface="+mn-ea"/>
                          <a:cs typeface="Times New Roman" panose="02020603050405020304" pitchFamily="18" charset="0"/>
                        </a:rPr>
                        <a:t> , </a:t>
                      </a:r>
                      <a:r>
                        <a:rPr lang="en-IN" sz="2700" b="0" i="0" u="none" strike="noStrike" kern="1200" baseline="0" dirty="0" err="1">
                          <a:solidFill>
                            <a:schemeClr val="tx1"/>
                          </a:solidFill>
                          <a:latin typeface="Times New Roman" panose="02020603050405020304" pitchFamily="18" charset="0"/>
                          <a:ea typeface="+mn-ea"/>
                          <a:cs typeface="Times New Roman" panose="02020603050405020304" pitchFamily="18" charset="0"/>
                        </a:rPr>
                        <a:t>Mourade</a:t>
                      </a:r>
                      <a:r>
                        <a:rPr lang="en-IN" sz="2700" b="0" i="0" u="none" strike="noStrike" kern="1200" baseline="0" dirty="0">
                          <a:solidFill>
                            <a:schemeClr val="tx1"/>
                          </a:solidFill>
                          <a:latin typeface="Times New Roman" panose="02020603050405020304" pitchFamily="18" charset="0"/>
                          <a:ea typeface="+mn-ea"/>
                          <a:cs typeface="Times New Roman" panose="02020603050405020304" pitchFamily="18" charset="0"/>
                        </a:rPr>
                        <a:t> </a:t>
                      </a:r>
                      <a:r>
                        <a:rPr lang="en-IN" sz="2700" b="0" i="0" u="none" strike="noStrike" kern="1200" baseline="0" dirty="0" err="1">
                          <a:solidFill>
                            <a:schemeClr val="tx1"/>
                          </a:solidFill>
                          <a:latin typeface="Times New Roman" panose="02020603050405020304" pitchFamily="18" charset="0"/>
                          <a:ea typeface="+mn-ea"/>
                          <a:cs typeface="Times New Roman" panose="02020603050405020304" pitchFamily="18" charset="0"/>
                        </a:rPr>
                        <a:t>Azrour</a:t>
                      </a:r>
                      <a:r>
                        <a:rPr lang="en-IN" sz="2700" b="0" i="0" u="none" strike="noStrike" kern="1200" baseline="0" dirty="0">
                          <a:solidFill>
                            <a:schemeClr val="tx1"/>
                          </a:solidFill>
                          <a:latin typeface="Times New Roman" panose="02020603050405020304" pitchFamily="18" charset="0"/>
                          <a:ea typeface="+mn-ea"/>
                          <a:cs typeface="Times New Roman" panose="02020603050405020304" pitchFamily="18" charset="0"/>
                        </a:rPr>
                        <a:t>, </a:t>
                      </a:r>
                      <a:r>
                        <a:rPr lang="en-IN" sz="2700" b="0" i="0" u="none" strike="noStrike" kern="1200" baseline="0" dirty="0" err="1">
                          <a:solidFill>
                            <a:schemeClr val="tx1"/>
                          </a:solidFill>
                          <a:latin typeface="Times New Roman" panose="02020603050405020304" pitchFamily="18" charset="0"/>
                          <a:ea typeface="+mn-ea"/>
                          <a:cs typeface="Times New Roman" panose="02020603050405020304" pitchFamily="18" charset="0"/>
                        </a:rPr>
                        <a:t>Driss</a:t>
                      </a:r>
                      <a:r>
                        <a:rPr lang="en-IN" sz="2700" b="0" i="0" u="none" strike="noStrike" kern="1200" baseline="0" dirty="0">
                          <a:solidFill>
                            <a:schemeClr val="tx1"/>
                          </a:solidFill>
                          <a:latin typeface="Times New Roman" panose="02020603050405020304" pitchFamily="18" charset="0"/>
                          <a:ea typeface="+mn-ea"/>
                          <a:cs typeface="Times New Roman" panose="02020603050405020304" pitchFamily="18" charset="0"/>
                        </a:rPr>
                        <a:t> </a:t>
                      </a:r>
                      <a:r>
                        <a:rPr lang="en-IN" sz="2700" b="0" i="0" u="none" strike="noStrike" kern="1200" baseline="0" dirty="0" err="1">
                          <a:solidFill>
                            <a:schemeClr val="tx1"/>
                          </a:solidFill>
                          <a:latin typeface="Times New Roman" panose="02020603050405020304" pitchFamily="18" charset="0"/>
                          <a:ea typeface="+mn-ea"/>
                          <a:cs typeface="Times New Roman" panose="02020603050405020304" pitchFamily="18" charset="0"/>
                        </a:rPr>
                        <a:t>Dhiba</a:t>
                      </a:r>
                      <a:r>
                        <a:rPr lang="en-IN" sz="2700" b="0" i="0" u="none" strike="noStrike" kern="1200" baseline="0" dirty="0">
                          <a:solidFill>
                            <a:schemeClr val="tx1"/>
                          </a:solidFill>
                          <a:latin typeface="Times New Roman" panose="02020603050405020304" pitchFamily="18" charset="0"/>
                          <a:ea typeface="+mn-ea"/>
                          <a:cs typeface="Times New Roman" panose="02020603050405020304" pitchFamily="18" charset="0"/>
                        </a:rPr>
                        <a:t>, Yousef </a:t>
                      </a:r>
                      <a:r>
                        <a:rPr lang="en-IN" sz="2700" b="0" i="0" u="none" strike="noStrike" kern="1200" baseline="0" dirty="0" err="1">
                          <a:solidFill>
                            <a:schemeClr val="tx1"/>
                          </a:solidFill>
                          <a:latin typeface="Times New Roman" panose="02020603050405020304" pitchFamily="18" charset="0"/>
                          <a:ea typeface="+mn-ea"/>
                          <a:cs typeface="Times New Roman" panose="02020603050405020304" pitchFamily="18" charset="0"/>
                        </a:rPr>
                        <a:t>Farhaoui</a:t>
                      </a:r>
                      <a:r>
                        <a:rPr lang="en-IN" sz="2700" b="0" i="0" u="none" strike="noStrike" kern="1200" baseline="0" dirty="0">
                          <a:solidFill>
                            <a:schemeClr val="tx1"/>
                          </a:solidFill>
                          <a:latin typeface="Times New Roman" panose="02020603050405020304" pitchFamily="18" charset="0"/>
                          <a:ea typeface="+mn-ea"/>
                          <a:cs typeface="Times New Roman" panose="02020603050405020304" pitchFamily="18" charset="0"/>
                        </a:rPr>
                        <a:t>, and </a:t>
                      </a:r>
                      <a:r>
                        <a:rPr lang="en-IN" sz="2700" b="0" i="0" u="none" strike="noStrike" kern="1200" baseline="0" dirty="0" err="1">
                          <a:solidFill>
                            <a:schemeClr val="tx1"/>
                          </a:solidFill>
                          <a:latin typeface="Times New Roman" panose="02020603050405020304" pitchFamily="18" charset="0"/>
                          <a:ea typeface="+mn-ea"/>
                          <a:cs typeface="Times New Roman" panose="02020603050405020304" pitchFamily="18" charset="0"/>
                        </a:rPr>
                        <a:t>Souad</a:t>
                      </a:r>
                      <a:r>
                        <a:rPr lang="en-IN" sz="2700" b="0" i="0" u="none" strike="noStrike" kern="1200" baseline="0" dirty="0">
                          <a:solidFill>
                            <a:schemeClr val="tx1"/>
                          </a:solidFill>
                          <a:latin typeface="Times New Roman" panose="02020603050405020304" pitchFamily="18" charset="0"/>
                          <a:ea typeface="+mn-ea"/>
                          <a:cs typeface="Times New Roman" panose="02020603050405020304" pitchFamily="18" charset="0"/>
                        </a:rPr>
                        <a:t> El </a:t>
                      </a:r>
                      <a:r>
                        <a:rPr lang="en-IN" sz="2700" b="0" i="0" u="none" strike="noStrike" kern="1200" baseline="0" dirty="0" err="1">
                          <a:solidFill>
                            <a:schemeClr val="tx1"/>
                          </a:solidFill>
                          <a:latin typeface="Times New Roman" panose="02020603050405020304" pitchFamily="18" charset="0"/>
                          <a:ea typeface="+mn-ea"/>
                          <a:cs typeface="Times New Roman" panose="02020603050405020304" pitchFamily="18" charset="0"/>
                        </a:rPr>
                        <a:t>Hajjaji</a:t>
                      </a:r>
                      <a:r>
                        <a:rPr lang="en-IN" sz="2700" b="0" i="0" u="none" strike="noStrike" kern="1200" baseline="0" dirty="0">
                          <a:solidFill>
                            <a:schemeClr val="tx1"/>
                          </a:solidFill>
                          <a:latin typeface="Times New Roman" panose="02020603050405020304" pitchFamily="18" charset="0"/>
                          <a:ea typeface="+mn-ea"/>
                          <a:cs typeface="Times New Roman" panose="02020603050405020304" pitchFamily="18" charset="0"/>
                        </a:rPr>
                        <a:t> </a:t>
                      </a:r>
                      <a:endParaRPr lang="en-IN" sz="2400" b="0" dirty="0">
                        <a:latin typeface="Times New Roman" panose="02020603050405020304" pitchFamily="18" charset="0"/>
                        <a:cs typeface="Times New Roman" panose="02020603050405020304" pitchFamily="18" charset="0"/>
                      </a:endParaRPr>
                    </a:p>
                  </a:txBody>
                  <a:tcPr/>
                </a:tc>
                <a:tc>
                  <a:txBody>
                    <a:bodyPr/>
                    <a:lstStyle/>
                    <a:p>
                      <a:pPr algn="ctr"/>
                      <a:endParaRPr lang="en-US" sz="2400" b="0" i="0" u="none" strike="noStrike" kern="1200" baseline="0" dirty="0">
                        <a:solidFill>
                          <a:schemeClr val="tx1"/>
                        </a:solidFill>
                        <a:latin typeface="Times New Roman" panose="02020603050405020304" pitchFamily="18" charset="0"/>
                        <a:ea typeface="+mn-ea"/>
                        <a:cs typeface="Times New Roman" panose="02020603050405020304" pitchFamily="18" charset="0"/>
                      </a:endParaRPr>
                    </a:p>
                    <a:p>
                      <a:pPr algn="ctr"/>
                      <a:r>
                        <a:rPr lang="en-US" sz="2400" b="0" i="0" u="none" strike="noStrike" kern="1200" baseline="0" dirty="0">
                          <a:solidFill>
                            <a:schemeClr val="tx1"/>
                          </a:solidFill>
                          <a:latin typeface="Times New Roman" panose="02020603050405020304" pitchFamily="18" charset="0"/>
                          <a:ea typeface="+mn-ea"/>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Predictive Weather Analytics using Machine Learning</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endParaRPr lang="en-US" sz="2400" dirty="0">
                        <a:latin typeface="Times New Roman" panose="02020603050405020304" pitchFamily="18" charset="0"/>
                        <a:cs typeface="Times New Roman" panose="02020603050405020304" pitchFamily="18" charset="0"/>
                      </a:endParaRPr>
                    </a:p>
                    <a:p>
                      <a:pPr algn="ctr"/>
                      <a:endParaRPr lang="en-US" sz="2400" dirty="0">
                        <a:latin typeface="Times New Roman" panose="02020603050405020304" pitchFamily="18" charset="0"/>
                        <a:cs typeface="Times New Roman" panose="02020603050405020304" pitchFamily="18" charset="0"/>
                      </a:endParaRPr>
                    </a:p>
                    <a:p>
                      <a:pPr algn="ctr"/>
                      <a:endParaRPr lang="en-US" sz="2400" dirty="0">
                        <a:latin typeface="Times New Roman" panose="02020603050405020304" pitchFamily="18" charset="0"/>
                        <a:cs typeface="Times New Roman" panose="02020603050405020304" pitchFamily="18" charset="0"/>
                      </a:endParaRPr>
                    </a:p>
                    <a:p>
                      <a:pPr algn="ctr"/>
                      <a:r>
                        <a:rPr lang="en-US" sz="2400" dirty="0">
                          <a:latin typeface="Times New Roman" panose="02020603050405020304" pitchFamily="18" charset="0"/>
                          <a:cs typeface="Times New Roman" panose="02020603050405020304" pitchFamily="18" charset="0"/>
                        </a:rPr>
                        <a:t>IOT</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700" b="0" i="0" u="none" strike="noStrike" kern="1200" baseline="0" dirty="0">
                          <a:solidFill>
                            <a:schemeClr val="tx1"/>
                          </a:solidFill>
                          <a:latin typeface="Times New Roman" panose="02020603050405020304" pitchFamily="18" charset="0"/>
                          <a:ea typeface="+mn-ea"/>
                          <a:cs typeface="Times New Roman" panose="02020603050405020304" pitchFamily="18" charset="0"/>
                        </a:rPr>
                        <a:t>In recent years, the monitoring systems play significant roles in our life. So, in this paper, we propose an automatic weather monitoring system that allows having dynamic and real-time climate data of a given area. The proposed system is based on the internet of things technology and embedded system. The system also includes electronic devices, sensors, and wireless technology. </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3040018">
                <a:tc>
                  <a:txBody>
                    <a:bodyPr/>
                    <a:lstStyle/>
                    <a:p>
                      <a:pPr algn="ctr"/>
                      <a:r>
                        <a:rPr lang="en-US" sz="2400" dirty="0"/>
                        <a:t>4.</a:t>
                      </a:r>
                      <a:endParaRPr lang="en-IN" sz="2400" dirty="0"/>
                    </a:p>
                  </a:txBody>
                  <a:tcPr/>
                </a:tc>
                <a:tc>
                  <a:txBody>
                    <a:bodyPr/>
                    <a:lstStyle/>
                    <a:p>
                      <a:pPr algn="ctr"/>
                      <a:r>
                        <a:rPr lang="en-IN" sz="2700" b="0" i="0" u="none" strike="noStrike" kern="1200" baseline="0" dirty="0">
                          <a:solidFill>
                            <a:schemeClr val="tx1"/>
                          </a:solidFill>
                          <a:latin typeface="Times New Roman" panose="02020603050405020304" pitchFamily="18" charset="0"/>
                          <a:ea typeface="+mn-ea"/>
                          <a:cs typeface="Times New Roman" panose="02020603050405020304" pitchFamily="18" charset="0"/>
                        </a:rPr>
                        <a:t>Girija C, </a:t>
                      </a:r>
                      <a:r>
                        <a:rPr lang="en-IN" sz="2700" b="0" i="0" u="none" strike="noStrike" kern="1200" baseline="0" dirty="0" err="1">
                          <a:solidFill>
                            <a:schemeClr val="tx1"/>
                          </a:solidFill>
                          <a:latin typeface="Times New Roman" panose="02020603050405020304" pitchFamily="18" charset="0"/>
                          <a:ea typeface="+mn-ea"/>
                          <a:cs typeface="Times New Roman" panose="02020603050405020304" pitchFamily="18" charset="0"/>
                        </a:rPr>
                        <a:t>Harshalatha</a:t>
                      </a:r>
                      <a:r>
                        <a:rPr lang="en-IN" sz="2700" b="0" i="0" u="none" strike="noStrike" kern="1200" baseline="0" dirty="0">
                          <a:solidFill>
                            <a:schemeClr val="tx1"/>
                          </a:solidFill>
                          <a:latin typeface="Times New Roman" panose="02020603050405020304" pitchFamily="18" charset="0"/>
                          <a:ea typeface="+mn-ea"/>
                          <a:cs typeface="Times New Roman" panose="02020603050405020304" pitchFamily="18" charset="0"/>
                        </a:rPr>
                        <a:t> H, Andreanna Grace Shires, </a:t>
                      </a:r>
                      <a:r>
                        <a:rPr lang="en-IN" sz="2700" b="0" i="0" u="none" strike="noStrike" kern="1200" baseline="0" dirty="0" err="1">
                          <a:solidFill>
                            <a:schemeClr val="tx1"/>
                          </a:solidFill>
                          <a:latin typeface="Times New Roman" panose="02020603050405020304" pitchFamily="18" charset="0"/>
                          <a:ea typeface="+mn-ea"/>
                          <a:cs typeface="Times New Roman" panose="02020603050405020304" pitchFamily="18" charset="0"/>
                        </a:rPr>
                        <a:t>Pushpalatha</a:t>
                      </a:r>
                      <a:r>
                        <a:rPr lang="en-IN" sz="2700" b="0" i="0" u="none" strike="noStrike" kern="1200" baseline="0" dirty="0">
                          <a:solidFill>
                            <a:schemeClr val="tx1"/>
                          </a:solidFill>
                          <a:latin typeface="Times New Roman" panose="02020603050405020304" pitchFamily="18" charset="0"/>
                          <a:ea typeface="+mn-ea"/>
                          <a:cs typeface="Times New Roman" panose="02020603050405020304" pitchFamily="18" charset="0"/>
                        </a:rPr>
                        <a:t> H P </a:t>
                      </a:r>
                      <a:endParaRPr lang="en-IN" sz="2400" b="0" dirty="0">
                        <a:latin typeface="Times New Roman" panose="02020603050405020304" pitchFamily="18" charset="0"/>
                        <a:cs typeface="Times New Roman" panose="02020603050405020304" pitchFamily="18" charset="0"/>
                      </a:endParaRPr>
                    </a:p>
                  </a:txBody>
                  <a:tcPr/>
                </a:tc>
                <a:tc>
                  <a:txBody>
                    <a:bodyPr/>
                    <a:lstStyle/>
                    <a:p>
                      <a:pPr algn="ctr"/>
                      <a:endParaRPr lang="en-US" sz="2400" b="0" i="0" u="none" strike="noStrike" kern="1200" baseline="0" dirty="0">
                        <a:solidFill>
                          <a:schemeClr val="tx1"/>
                        </a:solidFill>
                        <a:latin typeface="Times New Roman" panose="02020603050405020304" pitchFamily="18" charset="0"/>
                        <a:ea typeface="+mn-ea"/>
                        <a:cs typeface="Times New Roman" panose="02020603050405020304" pitchFamily="18" charset="0"/>
                      </a:endParaRPr>
                    </a:p>
                    <a:p>
                      <a:pPr algn="ctr"/>
                      <a:r>
                        <a:rPr lang="en-US" sz="2400" dirty="0">
                          <a:latin typeface="Times New Roman" panose="02020603050405020304" pitchFamily="18" charset="0"/>
                          <a:cs typeface="Times New Roman" panose="02020603050405020304" pitchFamily="18" charset="0"/>
                        </a:rPr>
                        <a:t>Energy-efficient Design for Raspberry Pi Weather Stations</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endParaRPr lang="en-US" sz="2400" dirty="0">
                        <a:latin typeface="Times New Roman" panose="02020603050405020304" pitchFamily="18" charset="0"/>
                        <a:cs typeface="Times New Roman" panose="02020603050405020304" pitchFamily="18" charset="0"/>
                      </a:endParaRPr>
                    </a:p>
                    <a:p>
                      <a:pPr algn="ctr"/>
                      <a:endParaRPr lang="en-US" sz="2400" dirty="0">
                        <a:latin typeface="Times New Roman" panose="02020603050405020304" pitchFamily="18" charset="0"/>
                        <a:cs typeface="Times New Roman" panose="02020603050405020304" pitchFamily="18" charset="0"/>
                      </a:endParaRPr>
                    </a:p>
                    <a:p>
                      <a:pPr algn="ctr"/>
                      <a:r>
                        <a:rPr lang="en-US" sz="2400" dirty="0">
                          <a:latin typeface="Times New Roman" panose="02020603050405020304" pitchFamily="18" charset="0"/>
                          <a:cs typeface="Times New Roman" panose="02020603050405020304" pitchFamily="18" charset="0"/>
                        </a:rPr>
                        <a:t>IOT and Machine Learning</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endParaRPr lang="en-US" sz="2400" b="0" i="0" u="none" strike="noStrike" kern="1200" baseline="0" dirty="0">
                        <a:solidFill>
                          <a:schemeClr val="tx1"/>
                        </a:solidFill>
                        <a:latin typeface="Times New Roman" panose="02020603050405020304" pitchFamily="18" charset="0"/>
                        <a:ea typeface="+mn-ea"/>
                        <a:cs typeface="Times New Roman" panose="02020603050405020304" pitchFamily="18" charset="0"/>
                      </a:endParaRPr>
                    </a:p>
                    <a:p>
                      <a:pPr algn="ctr"/>
                      <a:r>
                        <a:rPr lang="en-US" sz="2400" b="0" i="0" u="none" strike="noStrike" kern="1200" baseline="0" dirty="0">
                          <a:solidFill>
                            <a:schemeClr val="tx1"/>
                          </a:solidFill>
                          <a:latin typeface="Times New Roman" panose="02020603050405020304" pitchFamily="18" charset="0"/>
                          <a:ea typeface="+mn-ea"/>
                          <a:cs typeface="Times New Roman" panose="02020603050405020304" pitchFamily="18" charset="0"/>
                        </a:rPr>
                        <a:t> </a:t>
                      </a:r>
                      <a:r>
                        <a:rPr lang="en-US" sz="2700" b="0" i="0" u="none" strike="noStrike" kern="1200" baseline="0" dirty="0">
                          <a:solidFill>
                            <a:schemeClr val="tx1"/>
                          </a:solidFill>
                          <a:latin typeface="Times New Roman" panose="02020603050405020304" pitchFamily="18" charset="0"/>
                          <a:ea typeface="+mn-ea"/>
                          <a:cs typeface="Times New Roman" panose="02020603050405020304" pitchFamily="18" charset="0"/>
                        </a:rPr>
                        <a:t>By keeping the embedded devices in the environment for monitoring enables self protection (i.e., smart environment) to the environment. To implement this need to deploy the sensor devices in the environment for collecting the data and analysis. </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bl>
          </a:graphicData>
        </a:graphic>
      </p:graphicFrame>
      <p:sp>
        <p:nvSpPr>
          <p:cNvPr id="3" name="TextBox 2"/>
          <p:cNvSpPr txBox="1"/>
          <p:nvPr/>
        </p:nvSpPr>
        <p:spPr>
          <a:xfrm>
            <a:off x="1031132" y="856033"/>
            <a:ext cx="9455285" cy="1015663"/>
          </a:xfrm>
          <a:prstGeom prst="rect">
            <a:avLst/>
          </a:prstGeom>
          <a:noFill/>
        </p:spPr>
        <p:txBody>
          <a:bodyPr wrap="square" rtlCol="0">
            <a:spAutoFit/>
          </a:bodyPr>
          <a:lstStyle/>
          <a:p>
            <a:r>
              <a:rPr lang="en-US" sz="6000" b="1" dirty="0">
                <a:latin typeface="Times New Roman" panose="02020603050405020304" pitchFamily="18" charset="0"/>
                <a:cs typeface="Times New Roman" panose="02020603050405020304" pitchFamily="18" charset="0"/>
              </a:rPr>
              <a:t>LITERATURE SURVEY</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5</a:t>
            </a:fld>
            <a:endParaRPr lang="en-US"/>
          </a:p>
        </p:txBody>
      </p:sp>
    </p:spTree>
    <p:extLst>
      <p:ext uri="{BB962C8B-B14F-4D97-AF65-F5344CB8AC3E}">
        <p14:creationId xmlns:p14="http://schemas.microsoft.com/office/powerpoint/2010/main" val="36067327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084302183"/>
              </p:ext>
            </p:extLst>
          </p:nvPr>
        </p:nvGraphicFramePr>
        <p:xfrm>
          <a:off x="875491" y="1710813"/>
          <a:ext cx="15659910" cy="8347587"/>
        </p:xfrm>
        <a:graphic>
          <a:graphicData uri="http://schemas.openxmlformats.org/drawingml/2006/table">
            <a:tbl>
              <a:tblPr firstRow="1" bandRow="1">
                <a:tableStyleId>{5940675A-B579-460E-94D1-54222C63F5DA}</a:tableStyleId>
              </a:tblPr>
              <a:tblGrid>
                <a:gridCol w="1024361">
                  <a:extLst>
                    <a:ext uri="{9D8B030D-6E8A-4147-A177-3AD203B41FA5}">
                      <a16:colId xmlns:a16="http://schemas.microsoft.com/office/drawing/2014/main" val="20000"/>
                    </a:ext>
                  </a:extLst>
                </a:gridCol>
                <a:gridCol w="3015461">
                  <a:extLst>
                    <a:ext uri="{9D8B030D-6E8A-4147-A177-3AD203B41FA5}">
                      <a16:colId xmlns:a16="http://schemas.microsoft.com/office/drawing/2014/main" val="20001"/>
                    </a:ext>
                  </a:extLst>
                </a:gridCol>
                <a:gridCol w="2331611">
                  <a:extLst>
                    <a:ext uri="{9D8B030D-6E8A-4147-A177-3AD203B41FA5}">
                      <a16:colId xmlns:a16="http://schemas.microsoft.com/office/drawing/2014/main" val="20002"/>
                    </a:ext>
                  </a:extLst>
                </a:gridCol>
                <a:gridCol w="2105150">
                  <a:extLst>
                    <a:ext uri="{9D8B030D-6E8A-4147-A177-3AD203B41FA5}">
                      <a16:colId xmlns:a16="http://schemas.microsoft.com/office/drawing/2014/main" val="20003"/>
                    </a:ext>
                  </a:extLst>
                </a:gridCol>
                <a:gridCol w="7183327">
                  <a:extLst>
                    <a:ext uri="{9D8B030D-6E8A-4147-A177-3AD203B41FA5}">
                      <a16:colId xmlns:a16="http://schemas.microsoft.com/office/drawing/2014/main" val="20004"/>
                    </a:ext>
                  </a:extLst>
                </a:gridCol>
              </a:tblGrid>
              <a:tr h="1620822">
                <a:tc>
                  <a:txBody>
                    <a:bodyPr/>
                    <a:lstStyle/>
                    <a:p>
                      <a:pPr algn="ctr"/>
                      <a:endParaRPr lang="en-US" sz="2400" dirty="0"/>
                    </a:p>
                    <a:p>
                      <a:pPr algn="ctr"/>
                      <a:r>
                        <a:rPr lang="en-US" sz="2400" dirty="0"/>
                        <a:t>Sr.</a:t>
                      </a:r>
                      <a:r>
                        <a:rPr lang="en-US" sz="2400" baseline="0" dirty="0"/>
                        <a:t> No.</a:t>
                      </a:r>
                      <a:endParaRPr lang="en-IN" sz="2400" dirty="0"/>
                    </a:p>
                  </a:txBody>
                  <a:tcPr>
                    <a:solidFill>
                      <a:schemeClr val="tx2">
                        <a:lumMod val="20000"/>
                        <a:lumOff val="80000"/>
                      </a:schemeClr>
                    </a:solidFill>
                  </a:tcPr>
                </a:tc>
                <a:tc>
                  <a:txBody>
                    <a:bodyPr/>
                    <a:lstStyle/>
                    <a:p>
                      <a:pPr algn="ctr"/>
                      <a:endParaRPr lang="en-US" sz="2400" dirty="0"/>
                    </a:p>
                    <a:p>
                      <a:pPr algn="ctr"/>
                      <a:r>
                        <a:rPr lang="en-US" sz="2400" dirty="0"/>
                        <a:t>Authors</a:t>
                      </a:r>
                      <a:endParaRPr lang="en-IN" sz="2400" dirty="0"/>
                    </a:p>
                  </a:txBody>
                  <a:tcPr>
                    <a:solidFill>
                      <a:schemeClr val="tx2">
                        <a:lumMod val="20000"/>
                        <a:lumOff val="80000"/>
                      </a:schemeClr>
                    </a:solidFill>
                  </a:tcPr>
                </a:tc>
                <a:tc>
                  <a:txBody>
                    <a:bodyPr/>
                    <a:lstStyle/>
                    <a:p>
                      <a:pPr algn="ctr"/>
                      <a:endParaRPr lang="en-US" sz="2400" dirty="0"/>
                    </a:p>
                    <a:p>
                      <a:pPr algn="ctr"/>
                      <a:r>
                        <a:rPr lang="en-US" sz="2400" dirty="0"/>
                        <a:t>Title</a:t>
                      </a:r>
                      <a:endParaRPr lang="en-IN" sz="2400" dirty="0"/>
                    </a:p>
                  </a:txBody>
                  <a:tcPr>
                    <a:solidFill>
                      <a:schemeClr val="tx2">
                        <a:lumMod val="20000"/>
                        <a:lumOff val="80000"/>
                      </a:schemeClr>
                    </a:solidFill>
                  </a:tcPr>
                </a:tc>
                <a:tc>
                  <a:txBody>
                    <a:bodyPr/>
                    <a:lstStyle/>
                    <a:p>
                      <a:pPr algn="ctr"/>
                      <a:endParaRPr lang="en-US" sz="2400" dirty="0"/>
                    </a:p>
                    <a:p>
                      <a:pPr algn="ctr"/>
                      <a:r>
                        <a:rPr lang="en-US" sz="2400" dirty="0"/>
                        <a:t>Methodology</a:t>
                      </a:r>
                      <a:endParaRPr lang="en-IN" sz="2400" dirty="0"/>
                    </a:p>
                  </a:txBody>
                  <a:tcPr>
                    <a:solidFill>
                      <a:schemeClr val="tx2">
                        <a:lumMod val="20000"/>
                        <a:lumOff val="80000"/>
                      </a:schemeClr>
                    </a:solidFill>
                  </a:tcPr>
                </a:tc>
                <a:tc>
                  <a:txBody>
                    <a:bodyPr/>
                    <a:lstStyle/>
                    <a:p>
                      <a:pPr algn="ctr"/>
                      <a:endParaRPr lang="en-US" sz="2400" dirty="0"/>
                    </a:p>
                    <a:p>
                      <a:pPr algn="ctr"/>
                      <a:r>
                        <a:rPr lang="en-US" sz="2400" dirty="0"/>
                        <a:t>Description</a:t>
                      </a:r>
                      <a:endParaRPr lang="en-IN" sz="2400" dirty="0"/>
                    </a:p>
                  </a:txBody>
                  <a:tcPr>
                    <a:solidFill>
                      <a:schemeClr val="tx2">
                        <a:lumMod val="20000"/>
                        <a:lumOff val="80000"/>
                      </a:schemeClr>
                    </a:solidFill>
                  </a:tcPr>
                </a:tc>
                <a:extLst>
                  <a:ext uri="{0D108BD9-81ED-4DB2-BD59-A6C34878D82A}">
                    <a16:rowId xmlns:a16="http://schemas.microsoft.com/office/drawing/2014/main" val="10000"/>
                  </a:ext>
                </a:extLst>
              </a:tr>
              <a:tr h="2706772">
                <a:tc>
                  <a:txBody>
                    <a:bodyPr/>
                    <a:lstStyle/>
                    <a:p>
                      <a:pPr algn="ctr"/>
                      <a:endParaRPr lang="en-US" sz="2400" dirty="0"/>
                    </a:p>
                    <a:p>
                      <a:pPr algn="ctr"/>
                      <a:r>
                        <a:rPr lang="en-US" sz="2400" dirty="0"/>
                        <a:t>5.</a:t>
                      </a:r>
                      <a:endParaRPr lang="en-IN" sz="2400" dirty="0"/>
                    </a:p>
                  </a:txBody>
                  <a:tcPr/>
                </a:tc>
                <a:tc>
                  <a:txBody>
                    <a:bodyPr/>
                    <a:lstStyle/>
                    <a:p>
                      <a:pPr algn="ctr"/>
                      <a:endParaRPr lang="en-IN" sz="2400" dirty="0">
                        <a:latin typeface="Times New Roman" panose="02020603050405020304" pitchFamily="18" charset="0"/>
                        <a:cs typeface="Times New Roman" panose="02020603050405020304" pitchFamily="18" charset="0"/>
                      </a:endParaRPr>
                    </a:p>
                    <a:p>
                      <a:pPr algn="ctr"/>
                      <a:r>
                        <a:rPr lang="en-IN" sz="2400" dirty="0">
                          <a:latin typeface="Times New Roman" panose="02020603050405020304" pitchFamily="18" charset="0"/>
                          <a:cs typeface="Times New Roman" panose="02020603050405020304" pitchFamily="18" charset="0"/>
                        </a:rPr>
                        <a:t>Vinod B. Shende , S.B. Gaikwad, Vijay Aware</a:t>
                      </a:r>
                    </a:p>
                  </a:txBody>
                  <a:tcPr/>
                </a:tc>
                <a:tc>
                  <a:txBody>
                    <a:bodyPr/>
                    <a:lstStyle/>
                    <a:p>
                      <a:pPr algn="ctr"/>
                      <a:endParaRPr lang="en-US" sz="2400" b="0" i="0" u="none" strike="noStrike" kern="1200" baseline="0" dirty="0">
                        <a:solidFill>
                          <a:schemeClr val="tx1"/>
                        </a:solidFill>
                        <a:latin typeface="Times New Roman" panose="02020603050405020304" pitchFamily="18" charset="0"/>
                        <a:ea typeface="+mn-ea"/>
                        <a:cs typeface="Times New Roman" panose="02020603050405020304" pitchFamily="18" charset="0"/>
                      </a:endParaRPr>
                    </a:p>
                    <a:p>
                      <a:r>
                        <a:rPr lang="en-US" sz="2400" b="0" i="0" u="none" strike="noStrike" kern="1200" baseline="0" dirty="0">
                          <a:solidFill>
                            <a:schemeClr val="tx1"/>
                          </a:solidFill>
                          <a:latin typeface="Times New Roman" panose="02020603050405020304" pitchFamily="18" charset="0"/>
                          <a:ea typeface="+mn-ea"/>
                          <a:cs typeface="Times New Roman" panose="02020603050405020304" pitchFamily="18" charset="0"/>
                        </a:rPr>
                        <a:t> </a:t>
                      </a:r>
                      <a:r>
                        <a:rPr lang="en-US" sz="2700" b="0" i="0" u="none" strike="noStrike" kern="1200" baseline="0" dirty="0">
                          <a:solidFill>
                            <a:schemeClr val="tx1"/>
                          </a:solidFill>
                          <a:latin typeface="Times New Roman" panose="02020603050405020304" pitchFamily="18" charset="0"/>
                          <a:ea typeface="+mn-ea"/>
                          <a:cs typeface="Times New Roman" panose="02020603050405020304" pitchFamily="18" charset="0"/>
                        </a:rPr>
                        <a:t>Raspberry Pi based Weather Reporting</a:t>
                      </a:r>
                    </a:p>
                    <a:p>
                      <a:r>
                        <a:rPr lang="en-IN" sz="2700" b="0" i="0" u="none" strike="noStrike" kern="1200" baseline="0" dirty="0">
                          <a:solidFill>
                            <a:schemeClr val="tx1"/>
                          </a:solidFill>
                          <a:latin typeface="Times New Roman" panose="02020603050405020304" pitchFamily="18" charset="0"/>
                          <a:ea typeface="+mn-ea"/>
                          <a:cs typeface="Times New Roman" panose="02020603050405020304" pitchFamily="18" charset="0"/>
                        </a:rPr>
                        <a:t>over IOT</a:t>
                      </a:r>
                      <a:endParaRPr lang="en-IN" sz="2400" b="0" dirty="0">
                        <a:latin typeface="Times New Roman" panose="02020603050405020304" pitchFamily="18" charset="0"/>
                        <a:cs typeface="Times New Roman" panose="02020603050405020304" pitchFamily="18" charset="0"/>
                      </a:endParaRPr>
                    </a:p>
                  </a:txBody>
                  <a:tcPr/>
                </a:tc>
                <a:tc>
                  <a:txBody>
                    <a:bodyPr/>
                    <a:lstStyle/>
                    <a:p>
                      <a:pPr algn="ctr"/>
                      <a:endParaRPr lang="en-US" sz="2400" dirty="0">
                        <a:latin typeface="Times New Roman" panose="02020603050405020304" pitchFamily="18" charset="0"/>
                        <a:cs typeface="Times New Roman" panose="02020603050405020304" pitchFamily="18" charset="0"/>
                      </a:endParaRPr>
                    </a:p>
                    <a:p>
                      <a:pPr algn="ctr"/>
                      <a:endParaRPr lang="en-US" sz="2400" dirty="0">
                        <a:latin typeface="Times New Roman" panose="02020603050405020304" pitchFamily="18" charset="0"/>
                        <a:cs typeface="Times New Roman" panose="02020603050405020304" pitchFamily="18" charset="0"/>
                      </a:endParaRPr>
                    </a:p>
                    <a:p>
                      <a:pPr algn="ctr"/>
                      <a:endParaRPr lang="en-US" sz="2400" dirty="0">
                        <a:latin typeface="Times New Roman" panose="02020603050405020304" pitchFamily="18" charset="0"/>
                        <a:cs typeface="Times New Roman" panose="02020603050405020304" pitchFamily="18" charset="0"/>
                      </a:endParaRPr>
                    </a:p>
                    <a:p>
                      <a:pPr algn="ctr"/>
                      <a:r>
                        <a:rPr lang="en-US" sz="2400" dirty="0">
                          <a:latin typeface="Times New Roman" panose="02020603050405020304" pitchFamily="18" charset="0"/>
                          <a:cs typeface="Times New Roman" panose="02020603050405020304" pitchFamily="18" charset="0"/>
                        </a:rPr>
                        <a:t>IOT</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b="0" i="0" u="none" strike="noStrike" kern="1200" baseline="0" dirty="0">
                          <a:solidFill>
                            <a:schemeClr val="tx1"/>
                          </a:solidFill>
                          <a:latin typeface="Times New Roman" panose="02020603050405020304" pitchFamily="18" charset="0"/>
                          <a:ea typeface="+mn-ea"/>
                          <a:cs typeface="Times New Roman" panose="02020603050405020304" pitchFamily="18" charset="0"/>
                        </a:rPr>
                        <a:t> </a:t>
                      </a:r>
                      <a:r>
                        <a:rPr lang="en-US" sz="2700" b="0" i="0" u="none" strike="noStrike" kern="1200" baseline="0" dirty="0">
                          <a:solidFill>
                            <a:schemeClr val="tx1"/>
                          </a:solidFill>
                          <a:latin typeface="Times New Roman" panose="02020603050405020304" pitchFamily="18" charset="0"/>
                          <a:ea typeface="+mn-ea"/>
                          <a:cs typeface="Times New Roman" panose="02020603050405020304" pitchFamily="18" charset="0"/>
                        </a:rPr>
                        <a:t>This paper represents the real time monitoring and updating weather conditions over the internet. The system monitors three parameters namely temperature, humidity and rainfall. These values are then displayed on LCD and also updated over the IoT gecko.com. When the area is dry it shows zero value. </a:t>
                      </a:r>
                      <a:endParaRPr lang="en-IN" sz="2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3754965">
                <a:tc>
                  <a:txBody>
                    <a:bodyPr/>
                    <a:lstStyle/>
                    <a:p>
                      <a:pPr algn="ctr"/>
                      <a:endParaRPr lang="en-US" sz="2400" dirty="0"/>
                    </a:p>
                    <a:p>
                      <a:pPr algn="ctr"/>
                      <a:r>
                        <a:rPr lang="en-US" sz="2400" dirty="0"/>
                        <a:t>6.</a:t>
                      </a:r>
                      <a:endParaRPr lang="en-IN" sz="2400" dirty="0"/>
                    </a:p>
                  </a:txBody>
                  <a:tcPr/>
                </a:tc>
                <a:tc>
                  <a:txBody>
                    <a:bodyPr/>
                    <a:lstStyle/>
                    <a:p>
                      <a:pPr algn="ctr"/>
                      <a:endParaRPr lang="en-IN" sz="2400" dirty="0">
                        <a:latin typeface="Times New Roman" panose="02020603050405020304" pitchFamily="18" charset="0"/>
                        <a:cs typeface="Times New Roman" panose="02020603050405020304" pitchFamily="18" charset="0"/>
                      </a:endParaRPr>
                    </a:p>
                    <a:p>
                      <a:pPr algn="ctr"/>
                      <a:r>
                        <a:rPr lang="en-IN" sz="2400" dirty="0">
                          <a:latin typeface="Times New Roman" panose="02020603050405020304" pitchFamily="18" charset="0"/>
                          <a:cs typeface="Times New Roman" panose="02020603050405020304" pitchFamily="18" charset="0"/>
                        </a:rPr>
                        <a:t>Patel, J., et al</a:t>
                      </a:r>
                    </a:p>
                  </a:txBody>
                  <a:tcPr/>
                </a:tc>
                <a:tc>
                  <a:txBody>
                    <a:bodyPr/>
                    <a:lstStyle/>
                    <a:p>
                      <a:pPr algn="ctr"/>
                      <a:endParaRPr lang="en-US" sz="2400" b="0" i="0" u="none" strike="noStrike" kern="1200" baseline="0" dirty="0">
                        <a:solidFill>
                          <a:schemeClr val="tx1"/>
                        </a:solidFill>
                        <a:latin typeface="Times New Roman" panose="02020603050405020304" pitchFamily="18" charset="0"/>
                        <a:ea typeface="+mn-ea"/>
                        <a:cs typeface="Times New Roman" panose="02020603050405020304" pitchFamily="18" charset="0"/>
                      </a:endParaRPr>
                    </a:p>
                    <a:p>
                      <a:pPr algn="ctr"/>
                      <a:r>
                        <a:rPr lang="en-US" sz="2400" dirty="0">
                          <a:latin typeface="Times New Roman" panose="02020603050405020304" pitchFamily="18" charset="0"/>
                          <a:cs typeface="Times New Roman" panose="02020603050405020304" pitchFamily="18" charset="0"/>
                        </a:rPr>
                        <a:t>Scalability in IoT Weather Reporting Systems</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endParaRPr lang="en-US" sz="2400" dirty="0">
                        <a:latin typeface="Times New Roman" panose="02020603050405020304" pitchFamily="18" charset="0"/>
                        <a:cs typeface="Times New Roman" panose="02020603050405020304" pitchFamily="18" charset="0"/>
                      </a:endParaRPr>
                    </a:p>
                    <a:p>
                      <a:pPr algn="ctr"/>
                      <a:endParaRPr lang="en-US" sz="2400" dirty="0">
                        <a:latin typeface="Times New Roman" panose="02020603050405020304" pitchFamily="18" charset="0"/>
                        <a:cs typeface="Times New Roman" panose="02020603050405020304" pitchFamily="18" charset="0"/>
                      </a:endParaRPr>
                    </a:p>
                    <a:p>
                      <a:pPr algn="ctr"/>
                      <a:endParaRPr lang="en-US" sz="2400" dirty="0">
                        <a:latin typeface="Times New Roman" panose="02020603050405020304" pitchFamily="18" charset="0"/>
                        <a:cs typeface="Times New Roman" panose="02020603050405020304" pitchFamily="18" charset="0"/>
                      </a:endParaRPr>
                    </a:p>
                    <a:p>
                      <a:pPr algn="ctr"/>
                      <a:endParaRPr lang="en-US" sz="2400" dirty="0">
                        <a:latin typeface="Times New Roman" panose="02020603050405020304" pitchFamily="18" charset="0"/>
                        <a:cs typeface="Times New Roman" panose="02020603050405020304" pitchFamily="18" charset="0"/>
                      </a:endParaRPr>
                    </a:p>
                    <a:p>
                      <a:pPr algn="ctr"/>
                      <a:r>
                        <a:rPr lang="en-US" sz="2400" dirty="0">
                          <a:latin typeface="Times New Roman" panose="02020603050405020304" pitchFamily="18" charset="0"/>
                          <a:cs typeface="Times New Roman" panose="02020603050405020304" pitchFamily="18" charset="0"/>
                        </a:rPr>
                        <a:t>IOT</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800" dirty="0">
                          <a:latin typeface="Times New Roman" panose="02020603050405020304" pitchFamily="18" charset="0"/>
                          <a:cs typeface="Times New Roman" panose="02020603050405020304" pitchFamily="18" charset="0"/>
                        </a:rPr>
                        <a:t>Addressing scalability in IoT weather reporting systems is crucial for their success, especially as the number of deployed sensors increases. Implementing solutions such as mesh networking, edge computing, and effective data management strategies can help mitigate these challenges, enabling more robust and efficient weather monitoring networks.</a:t>
                      </a:r>
                      <a:endParaRPr lang="en-IN" sz="2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bl>
          </a:graphicData>
        </a:graphic>
      </p:graphicFrame>
      <p:sp>
        <p:nvSpPr>
          <p:cNvPr id="3" name="TextBox 2"/>
          <p:cNvSpPr txBox="1"/>
          <p:nvPr/>
        </p:nvSpPr>
        <p:spPr>
          <a:xfrm>
            <a:off x="875491" y="390832"/>
            <a:ext cx="9455285" cy="1015663"/>
          </a:xfrm>
          <a:prstGeom prst="rect">
            <a:avLst/>
          </a:prstGeom>
          <a:noFill/>
        </p:spPr>
        <p:txBody>
          <a:bodyPr wrap="square" rtlCol="0">
            <a:spAutoFit/>
          </a:bodyPr>
          <a:lstStyle/>
          <a:p>
            <a:r>
              <a:rPr lang="en-US" sz="6000" b="1" dirty="0">
                <a:latin typeface="Times New Roman" panose="02020603050405020304" pitchFamily="18" charset="0"/>
                <a:cs typeface="Times New Roman" panose="02020603050405020304" pitchFamily="18" charset="0"/>
              </a:rPr>
              <a:t>LITERATURE SURVEY</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spTree>
    <p:extLst>
      <p:ext uri="{BB962C8B-B14F-4D97-AF65-F5344CB8AC3E}">
        <p14:creationId xmlns:p14="http://schemas.microsoft.com/office/powerpoint/2010/main" val="24000591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9E4D76-302E-A7A4-7026-A4F64EF4747C}"/>
              </a:ext>
            </a:extLst>
          </p:cNvPr>
          <p:cNvSpPr>
            <a:spLocks noGrp="1"/>
          </p:cNvSpPr>
          <p:nvPr>
            <p:ph idx="1"/>
          </p:nvPr>
        </p:nvSpPr>
        <p:spPr/>
        <p:txBody>
          <a:bodyPr>
            <a:normAutofit/>
          </a:bodyPr>
          <a:lstStyle/>
          <a:p>
            <a:pPr marL="68580" indent="0" fontAlgn="base">
              <a:buNone/>
            </a:pPr>
            <a:r>
              <a:rPr lang="en-US" sz="2800" cap="none" dirty="0">
                <a:latin typeface="Times New Roman" panose="02020603050405020304" pitchFamily="18" charset="0"/>
                <a:ea typeface="Tahoma" panose="020B0604030504040204" pitchFamily="34" charset="0"/>
                <a:cs typeface="Times New Roman" panose="02020603050405020304" pitchFamily="18" charset="0"/>
              </a:rPr>
              <a:t>                      In many regions, access to </a:t>
            </a:r>
            <a:r>
              <a:rPr lang="en-US" sz="2800" dirty="0">
                <a:latin typeface="Times New Roman" panose="02020603050405020304" pitchFamily="18" charset="0"/>
                <a:ea typeface="Tahoma" panose="020B0604030504040204" pitchFamily="34" charset="0"/>
                <a:cs typeface="Times New Roman" panose="02020603050405020304" pitchFamily="18" charset="0"/>
              </a:rPr>
              <a:t>a</a:t>
            </a:r>
            <a:r>
              <a:rPr lang="en-US" sz="2800" cap="none" dirty="0">
                <a:latin typeface="Times New Roman" panose="02020603050405020304" pitchFamily="18" charset="0"/>
                <a:ea typeface="Tahoma" panose="020B0604030504040204" pitchFamily="34" charset="0"/>
                <a:cs typeface="Times New Roman" panose="02020603050405020304" pitchFamily="18" charset="0"/>
              </a:rPr>
              <a:t>ccurate </a:t>
            </a:r>
            <a:r>
              <a:rPr lang="en-US" sz="2800" dirty="0">
                <a:latin typeface="Times New Roman" panose="02020603050405020304" pitchFamily="18" charset="0"/>
                <a:ea typeface="Tahoma" panose="020B0604030504040204" pitchFamily="34" charset="0"/>
                <a:cs typeface="Times New Roman" panose="02020603050405020304" pitchFamily="18" charset="0"/>
              </a:rPr>
              <a:t>a</a:t>
            </a:r>
            <a:r>
              <a:rPr lang="en-US" sz="2800" cap="none" dirty="0">
                <a:latin typeface="Times New Roman" panose="02020603050405020304" pitchFamily="18" charset="0"/>
                <a:ea typeface="Tahoma" panose="020B0604030504040204" pitchFamily="34" charset="0"/>
                <a:cs typeface="Times New Roman" panose="02020603050405020304" pitchFamily="18" charset="0"/>
              </a:rPr>
              <a:t>nd </a:t>
            </a:r>
            <a:r>
              <a:rPr lang="en-US" sz="2800" dirty="0">
                <a:latin typeface="Times New Roman" panose="02020603050405020304" pitchFamily="18" charset="0"/>
                <a:ea typeface="Tahoma" panose="020B0604030504040204" pitchFamily="34" charset="0"/>
                <a:cs typeface="Times New Roman" panose="02020603050405020304" pitchFamily="18" charset="0"/>
              </a:rPr>
              <a:t>t</a:t>
            </a:r>
            <a:r>
              <a:rPr lang="en-US" sz="2800" cap="none" dirty="0">
                <a:latin typeface="Times New Roman" panose="02020603050405020304" pitchFamily="18" charset="0"/>
                <a:ea typeface="Tahoma" panose="020B0604030504040204" pitchFamily="34" charset="0"/>
                <a:cs typeface="Times New Roman" panose="02020603050405020304" pitchFamily="18" charset="0"/>
              </a:rPr>
              <a:t>imely </a:t>
            </a:r>
            <a:r>
              <a:rPr lang="en-US" sz="2800" dirty="0">
                <a:latin typeface="Times New Roman" panose="02020603050405020304" pitchFamily="18" charset="0"/>
                <a:ea typeface="Tahoma" panose="020B0604030504040204" pitchFamily="34" charset="0"/>
                <a:cs typeface="Times New Roman" panose="02020603050405020304" pitchFamily="18" charset="0"/>
              </a:rPr>
              <a:t>w</a:t>
            </a:r>
            <a:r>
              <a:rPr lang="en-US" sz="2800" cap="none" dirty="0">
                <a:latin typeface="Times New Roman" panose="02020603050405020304" pitchFamily="18" charset="0"/>
                <a:ea typeface="Tahoma" panose="020B0604030504040204" pitchFamily="34" charset="0"/>
                <a:cs typeface="Times New Roman" panose="02020603050405020304" pitchFamily="18" charset="0"/>
              </a:rPr>
              <a:t>eather </a:t>
            </a:r>
            <a:r>
              <a:rPr lang="en-US" sz="2800" dirty="0">
                <a:latin typeface="Times New Roman" panose="02020603050405020304" pitchFamily="18" charset="0"/>
                <a:ea typeface="Tahoma" panose="020B0604030504040204" pitchFamily="34" charset="0"/>
                <a:cs typeface="Times New Roman" panose="02020603050405020304" pitchFamily="18" charset="0"/>
              </a:rPr>
              <a:t>i</a:t>
            </a:r>
            <a:r>
              <a:rPr lang="en-US" sz="2800" cap="none" dirty="0">
                <a:latin typeface="Times New Roman" panose="02020603050405020304" pitchFamily="18" charset="0"/>
                <a:ea typeface="Tahoma" panose="020B0604030504040204" pitchFamily="34" charset="0"/>
                <a:cs typeface="Times New Roman" panose="02020603050405020304" pitchFamily="18" charset="0"/>
              </a:rPr>
              <a:t>nformation </a:t>
            </a:r>
            <a:r>
              <a:rPr lang="en-US" sz="2800" dirty="0">
                <a:latin typeface="Times New Roman" panose="02020603050405020304" pitchFamily="18" charset="0"/>
                <a:ea typeface="Tahoma" panose="020B0604030504040204" pitchFamily="34" charset="0"/>
                <a:cs typeface="Times New Roman" panose="02020603050405020304" pitchFamily="18" charset="0"/>
              </a:rPr>
              <a:t>i</a:t>
            </a:r>
            <a:r>
              <a:rPr lang="en-US" sz="2800" cap="none" dirty="0">
                <a:latin typeface="Times New Roman" panose="02020603050405020304" pitchFamily="18" charset="0"/>
                <a:ea typeface="Tahoma" panose="020B0604030504040204" pitchFamily="34" charset="0"/>
                <a:cs typeface="Times New Roman" panose="02020603050405020304" pitchFamily="18" charset="0"/>
              </a:rPr>
              <a:t>s </a:t>
            </a:r>
            <a:r>
              <a:rPr lang="en-US" sz="2800" dirty="0">
                <a:latin typeface="Times New Roman" panose="02020603050405020304" pitchFamily="18" charset="0"/>
                <a:ea typeface="Tahoma" panose="020B0604030504040204" pitchFamily="34" charset="0"/>
                <a:cs typeface="Times New Roman" panose="02020603050405020304" pitchFamily="18" charset="0"/>
              </a:rPr>
              <a:t>l</a:t>
            </a:r>
            <a:r>
              <a:rPr lang="en-US" sz="2800" cap="none" dirty="0">
                <a:latin typeface="Times New Roman" panose="02020603050405020304" pitchFamily="18" charset="0"/>
                <a:ea typeface="Tahoma" panose="020B0604030504040204" pitchFamily="34" charset="0"/>
                <a:cs typeface="Times New Roman" panose="02020603050405020304" pitchFamily="18" charset="0"/>
              </a:rPr>
              <a:t>imited </a:t>
            </a:r>
            <a:r>
              <a:rPr lang="en-US" sz="2800" dirty="0">
                <a:latin typeface="Times New Roman" panose="02020603050405020304" pitchFamily="18" charset="0"/>
                <a:ea typeface="Tahoma" panose="020B0604030504040204" pitchFamily="34" charset="0"/>
                <a:cs typeface="Times New Roman" panose="02020603050405020304" pitchFamily="18" charset="0"/>
              </a:rPr>
              <a:t>d</a:t>
            </a:r>
            <a:r>
              <a:rPr lang="en-US" sz="2800" cap="none" dirty="0">
                <a:latin typeface="Times New Roman" panose="02020603050405020304" pitchFamily="18" charset="0"/>
                <a:ea typeface="Tahoma" panose="020B0604030504040204" pitchFamily="34" charset="0"/>
                <a:cs typeface="Times New Roman" panose="02020603050405020304" pitchFamily="18" charset="0"/>
              </a:rPr>
              <a:t>ue </a:t>
            </a:r>
            <a:r>
              <a:rPr lang="en-US" sz="2800" dirty="0">
                <a:latin typeface="Times New Roman" panose="02020603050405020304" pitchFamily="18" charset="0"/>
                <a:ea typeface="Tahoma" panose="020B0604030504040204" pitchFamily="34" charset="0"/>
                <a:cs typeface="Times New Roman" panose="02020603050405020304" pitchFamily="18" charset="0"/>
              </a:rPr>
              <a:t>t</a:t>
            </a:r>
            <a:r>
              <a:rPr lang="en-US" sz="2800" cap="none" dirty="0">
                <a:latin typeface="Times New Roman" panose="02020603050405020304" pitchFamily="18" charset="0"/>
                <a:ea typeface="Tahoma" panose="020B0604030504040204" pitchFamily="34" charset="0"/>
                <a:cs typeface="Times New Roman" panose="02020603050405020304" pitchFamily="18" charset="0"/>
              </a:rPr>
              <a:t>o </a:t>
            </a:r>
            <a:r>
              <a:rPr lang="en-US" sz="2800" dirty="0">
                <a:latin typeface="Times New Roman" panose="02020603050405020304" pitchFamily="18" charset="0"/>
                <a:ea typeface="Tahoma" panose="020B0604030504040204" pitchFamily="34" charset="0"/>
                <a:cs typeface="Times New Roman" panose="02020603050405020304" pitchFamily="18" charset="0"/>
              </a:rPr>
              <a:t>t</a:t>
            </a:r>
            <a:r>
              <a:rPr lang="en-US" sz="2800" cap="none" dirty="0">
                <a:latin typeface="Times New Roman" panose="02020603050405020304" pitchFamily="18" charset="0"/>
                <a:ea typeface="Tahoma" panose="020B0604030504040204" pitchFamily="34" charset="0"/>
                <a:cs typeface="Times New Roman" panose="02020603050405020304" pitchFamily="18" charset="0"/>
              </a:rPr>
              <a:t>he </a:t>
            </a:r>
            <a:r>
              <a:rPr lang="en-US" sz="2800" dirty="0">
                <a:latin typeface="Times New Roman" panose="02020603050405020304" pitchFamily="18" charset="0"/>
                <a:ea typeface="Tahoma" panose="020B0604030504040204" pitchFamily="34" charset="0"/>
                <a:cs typeface="Times New Roman" panose="02020603050405020304" pitchFamily="18" charset="0"/>
              </a:rPr>
              <a:t>h</a:t>
            </a:r>
            <a:r>
              <a:rPr lang="en-US" sz="2800" cap="none" dirty="0">
                <a:latin typeface="Times New Roman" panose="02020603050405020304" pitchFamily="18" charset="0"/>
                <a:ea typeface="Tahoma" panose="020B0604030504040204" pitchFamily="34" charset="0"/>
                <a:cs typeface="Times New Roman" panose="02020603050405020304" pitchFamily="18" charset="0"/>
              </a:rPr>
              <a:t>igh </a:t>
            </a:r>
            <a:r>
              <a:rPr lang="en-US" sz="2800" dirty="0">
                <a:latin typeface="Times New Roman" panose="02020603050405020304" pitchFamily="18" charset="0"/>
                <a:ea typeface="Tahoma" panose="020B0604030504040204" pitchFamily="34" charset="0"/>
                <a:cs typeface="Times New Roman" panose="02020603050405020304" pitchFamily="18" charset="0"/>
              </a:rPr>
              <a:t>c</a:t>
            </a:r>
            <a:r>
              <a:rPr lang="en-US" sz="2800" cap="none" dirty="0">
                <a:latin typeface="Times New Roman" panose="02020603050405020304" pitchFamily="18" charset="0"/>
                <a:ea typeface="Tahoma" panose="020B0604030504040204" pitchFamily="34" charset="0"/>
                <a:cs typeface="Times New Roman" panose="02020603050405020304" pitchFamily="18" charset="0"/>
              </a:rPr>
              <a:t>osts </a:t>
            </a:r>
            <a:r>
              <a:rPr lang="en-US" sz="2800" dirty="0">
                <a:latin typeface="Times New Roman" panose="02020603050405020304" pitchFamily="18" charset="0"/>
                <a:ea typeface="Tahoma" panose="020B0604030504040204" pitchFamily="34" charset="0"/>
                <a:cs typeface="Times New Roman" panose="02020603050405020304" pitchFamily="18" charset="0"/>
              </a:rPr>
              <a:t>a</a:t>
            </a:r>
            <a:r>
              <a:rPr lang="en-US" sz="2800" cap="none" dirty="0">
                <a:latin typeface="Times New Roman" panose="02020603050405020304" pitchFamily="18" charset="0"/>
                <a:ea typeface="Tahoma" panose="020B0604030504040204" pitchFamily="34" charset="0"/>
                <a:cs typeface="Times New Roman" panose="02020603050405020304" pitchFamily="18" charset="0"/>
              </a:rPr>
              <a:t>nd </a:t>
            </a:r>
            <a:r>
              <a:rPr lang="en-US" sz="2800" dirty="0">
                <a:latin typeface="Times New Roman" panose="02020603050405020304" pitchFamily="18" charset="0"/>
                <a:ea typeface="Tahoma" panose="020B0604030504040204" pitchFamily="34" charset="0"/>
                <a:cs typeface="Times New Roman" panose="02020603050405020304" pitchFamily="18" charset="0"/>
              </a:rPr>
              <a:t>l</a:t>
            </a:r>
            <a:r>
              <a:rPr lang="en-US" sz="2800" cap="none" dirty="0">
                <a:latin typeface="Times New Roman" panose="02020603050405020304" pitchFamily="18" charset="0"/>
                <a:ea typeface="Tahoma" panose="020B0604030504040204" pitchFamily="34" charset="0"/>
                <a:cs typeface="Times New Roman" panose="02020603050405020304" pitchFamily="18" charset="0"/>
              </a:rPr>
              <a:t>ogistical </a:t>
            </a:r>
            <a:r>
              <a:rPr lang="en-US" sz="2800" dirty="0">
                <a:latin typeface="Times New Roman" panose="02020603050405020304" pitchFamily="18" charset="0"/>
                <a:ea typeface="Tahoma" panose="020B0604030504040204" pitchFamily="34" charset="0"/>
                <a:cs typeface="Times New Roman" panose="02020603050405020304" pitchFamily="18" charset="0"/>
              </a:rPr>
              <a:t>c</a:t>
            </a:r>
            <a:r>
              <a:rPr lang="en-US" sz="2800" cap="none" dirty="0">
                <a:latin typeface="Times New Roman" panose="02020603050405020304" pitchFamily="18" charset="0"/>
                <a:ea typeface="Tahoma" panose="020B0604030504040204" pitchFamily="34" charset="0"/>
                <a:cs typeface="Times New Roman" panose="02020603050405020304" pitchFamily="18" charset="0"/>
              </a:rPr>
              <a:t>hallenges </a:t>
            </a:r>
            <a:r>
              <a:rPr lang="en-US" sz="2800" dirty="0">
                <a:latin typeface="Times New Roman" panose="02020603050405020304" pitchFamily="18" charset="0"/>
                <a:ea typeface="Tahoma" panose="020B0604030504040204" pitchFamily="34" charset="0"/>
                <a:cs typeface="Times New Roman" panose="02020603050405020304" pitchFamily="18" charset="0"/>
              </a:rPr>
              <a:t>o</a:t>
            </a:r>
            <a:r>
              <a:rPr lang="en-US" sz="2800" cap="none" dirty="0">
                <a:latin typeface="Times New Roman" panose="02020603050405020304" pitchFamily="18" charset="0"/>
                <a:ea typeface="Tahoma" panose="020B0604030504040204" pitchFamily="34" charset="0"/>
                <a:cs typeface="Times New Roman" panose="02020603050405020304" pitchFamily="18" charset="0"/>
              </a:rPr>
              <a:t>f traditional weather stations. existing solutions often lack real-time data, are difficult to deploy in remote areas, and do not provide localized information that communities need for effective decision-making.</a:t>
            </a:r>
          </a:p>
        </p:txBody>
      </p:sp>
      <p:sp>
        <p:nvSpPr>
          <p:cNvPr id="5" name="TextBox 4"/>
          <p:cNvSpPr txBox="1"/>
          <p:nvPr/>
        </p:nvSpPr>
        <p:spPr>
          <a:xfrm>
            <a:off x="1122572" y="915350"/>
            <a:ext cx="9455285" cy="1015663"/>
          </a:xfrm>
          <a:prstGeom prst="rect">
            <a:avLst/>
          </a:prstGeom>
          <a:noFill/>
        </p:spPr>
        <p:txBody>
          <a:bodyPr wrap="square" rtlCol="0">
            <a:spAutoFit/>
          </a:bodyPr>
          <a:lstStyle/>
          <a:p>
            <a:r>
              <a:rPr lang="en-US" sz="6000" b="1" dirty="0">
                <a:latin typeface="Times New Roman" panose="02020603050405020304" pitchFamily="18" charset="0"/>
                <a:cs typeface="Times New Roman" panose="02020603050405020304" pitchFamily="18" charset="0"/>
              </a:rPr>
              <a:t>PROBLEM STATEMENT</a:t>
            </a:r>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spTree>
    <p:extLst>
      <p:ext uri="{BB962C8B-B14F-4D97-AF65-F5344CB8AC3E}">
        <p14:creationId xmlns:p14="http://schemas.microsoft.com/office/powerpoint/2010/main" val="8788524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40659" y="2738438"/>
            <a:ext cx="16872154" cy="6527007"/>
          </a:xfrm>
        </p:spPr>
        <p:txBody>
          <a:bodyPr>
            <a:normAutofit/>
          </a:bodyPr>
          <a:lstStyle/>
          <a:p>
            <a:pPr algn="l"/>
            <a:r>
              <a:rPr lang="en-US" sz="3600" u="sng" dirty="0">
                <a:latin typeface="Times New Roman" panose="02020603050405020304" pitchFamily="18" charset="0"/>
                <a:cs typeface="Times New Roman" panose="02020603050405020304" pitchFamily="18" charset="0"/>
              </a:rPr>
              <a:t>AIM</a:t>
            </a:r>
            <a:r>
              <a:rPr lang="en-US" dirty="0">
                <a:latin typeface="Times New Roman" panose="02020603050405020304" pitchFamily="18" charset="0"/>
                <a:cs typeface="Times New Roman" panose="02020603050405020304" pitchFamily="18" charset="0"/>
              </a:rPr>
              <a:t> – </a:t>
            </a:r>
            <a:endParaRPr lang="en-IN" sz="1800" b="0" i="0" u="none" strike="noStrike" baseline="0" dirty="0">
              <a:solidFill>
                <a:srgbClr val="000000"/>
              </a:solidFill>
              <a:latin typeface="Times New Roman" panose="02020603050405020304" pitchFamily="18" charset="0"/>
              <a:cs typeface="Times New Roman" panose="02020603050405020304" pitchFamily="18" charset="0"/>
            </a:endParaRPr>
          </a:p>
          <a:p>
            <a:pPr marL="0" indent="0">
              <a:buNone/>
            </a:pPr>
            <a:r>
              <a:rPr lang="en-US" sz="2800" b="0" i="0" u="none" strike="noStrike" baseline="0" dirty="0">
                <a:solidFill>
                  <a:srgbClr val="000000"/>
                </a:solidFill>
                <a:latin typeface="Arial" panose="020B0604020202020204" pitchFamily="34" charset="0"/>
              </a:rPr>
              <a:t>     </a:t>
            </a:r>
            <a:r>
              <a:rPr lang="en-US" sz="2800" b="0" i="0" u="none" strike="noStrike" baseline="0" dirty="0">
                <a:solidFill>
                  <a:srgbClr val="000000"/>
                </a:solidFill>
                <a:latin typeface="Times New Roman" panose="02020603050405020304" pitchFamily="18" charset="0"/>
                <a:cs typeface="Times New Roman" panose="02020603050405020304" pitchFamily="18" charset="0"/>
              </a:rPr>
              <a:t>To increase the efficiency of the System we are upgrading from Arduino Uno board to Raspberry pi               board its Special designed for IoT applications. </a:t>
            </a:r>
          </a:p>
          <a:p>
            <a:endParaRPr lang="en-IN" sz="3200" b="0" i="0" u="none" strike="noStrike" baseline="0" dirty="0">
              <a:solidFill>
                <a:srgbClr val="000000"/>
              </a:solidFill>
              <a:latin typeface="Times New Roman" panose="02020603050405020304" pitchFamily="18" charset="0"/>
              <a:cs typeface="Times New Roman" panose="02020603050405020304" pitchFamily="18" charset="0"/>
            </a:endParaRPr>
          </a:p>
          <a:p>
            <a:pPr marL="0" indent="0">
              <a:buNone/>
            </a:pPr>
            <a:endParaRPr lang="en-US" sz="3200" dirty="0"/>
          </a:p>
          <a:p>
            <a:r>
              <a:rPr lang="en-US" sz="3600" u="sng" dirty="0">
                <a:latin typeface="Times New Roman" panose="02020603050405020304" pitchFamily="18" charset="0"/>
                <a:cs typeface="Times New Roman" panose="02020603050405020304" pitchFamily="18" charset="0"/>
              </a:rPr>
              <a:t>OBJECTIVE</a:t>
            </a:r>
            <a:r>
              <a:rPr lang="en-US" dirty="0">
                <a:latin typeface="Times New Roman" panose="02020603050405020304" pitchFamily="18" charset="0"/>
                <a:cs typeface="Times New Roman" panose="02020603050405020304" pitchFamily="18" charset="0"/>
              </a:rPr>
              <a:t> – </a:t>
            </a:r>
          </a:p>
          <a:p>
            <a:pPr algn="l"/>
            <a:endParaRPr lang="en-IN" sz="2800" b="0" i="0" u="none" strike="noStrike" baseline="0" dirty="0">
              <a:solidFill>
                <a:srgbClr val="000000"/>
              </a:solidFill>
              <a:latin typeface="Arial" panose="020B0604020202020204" pitchFamily="34" charset="0"/>
            </a:endParaRPr>
          </a:p>
          <a:p>
            <a:pPr marL="514350" indent="-514350">
              <a:buFont typeface="+mj-lt"/>
              <a:buAutoNum type="arabicPeriod"/>
            </a:pPr>
            <a:r>
              <a:rPr lang="en-US" sz="2800" b="0" i="0" u="none" strike="noStrike" baseline="0" dirty="0">
                <a:solidFill>
                  <a:srgbClr val="000000"/>
                </a:solidFill>
                <a:latin typeface="Times New Roman" panose="02020603050405020304" pitchFamily="18" charset="0"/>
                <a:cs typeface="Times New Roman" panose="02020603050405020304" pitchFamily="18" charset="0"/>
              </a:rPr>
              <a:t>Provide a remote monitoring and controlling application for analysis of a particular sensor data. </a:t>
            </a:r>
          </a:p>
          <a:p>
            <a:pPr marL="514350" indent="-514350">
              <a:buFont typeface="+mj-lt"/>
              <a:buAutoNum type="arabicPeriod"/>
            </a:pPr>
            <a:r>
              <a:rPr lang="en-US" sz="2800" dirty="0">
                <a:solidFill>
                  <a:srgbClr val="000000"/>
                </a:solidFill>
                <a:latin typeface="Times New Roman" panose="02020603050405020304" pitchFamily="18" charset="0"/>
                <a:cs typeface="Times New Roman" panose="02020603050405020304" pitchFamily="18" charset="0"/>
              </a:rPr>
              <a:t>A</a:t>
            </a:r>
            <a:r>
              <a:rPr lang="en-US" sz="2800" b="0" i="0" u="none" strike="noStrike" baseline="0" dirty="0">
                <a:solidFill>
                  <a:srgbClr val="000000"/>
                </a:solidFill>
                <a:latin typeface="Times New Roman" panose="02020603050405020304" pitchFamily="18" charset="0"/>
                <a:cs typeface="Times New Roman" panose="02020603050405020304" pitchFamily="18" charset="0"/>
              </a:rPr>
              <a:t>llow the user to manipulate the data and take some necessary actions. </a:t>
            </a:r>
          </a:p>
          <a:p>
            <a:pPr marL="514350" indent="-514350">
              <a:buFont typeface="+mj-lt"/>
              <a:buAutoNum type="arabicPeriod"/>
            </a:pPr>
            <a:r>
              <a:rPr lang="en-US" sz="2800" b="0" i="0" u="none" strike="noStrike" baseline="0" dirty="0">
                <a:solidFill>
                  <a:srgbClr val="000000"/>
                </a:solidFill>
                <a:latin typeface="Times New Roman" panose="02020603050405020304" pitchFamily="18" charset="0"/>
                <a:cs typeface="Times New Roman" panose="02020603050405020304" pitchFamily="18" charset="0"/>
              </a:rPr>
              <a:t>To provide very user-friendly interface for interacting with given data by sensors. </a:t>
            </a:r>
          </a:p>
          <a:p>
            <a:endParaRPr lang="en-IN" sz="1800" b="0" i="0" u="none" strike="noStrike" baseline="0" dirty="0">
              <a:solidFill>
                <a:srgbClr val="000000"/>
              </a:solidFill>
              <a:latin typeface="Arial" panose="020B0604020202020204" pitchFamily="34" charset="0"/>
            </a:endParaRPr>
          </a:p>
          <a:p>
            <a:endParaRPr lang="en-IN" sz="1800" b="0" i="0" u="none" strike="noStrike" baseline="0" dirty="0">
              <a:solidFill>
                <a:srgbClr val="000000"/>
              </a:solidFill>
              <a:latin typeface="Arial" panose="020B0604020202020204" pitchFamily="34" charset="0"/>
            </a:endParaRPr>
          </a:p>
          <a:p>
            <a:pPr marL="1428750" lvl="1" indent="-742950">
              <a:buFont typeface="+mj-lt"/>
              <a:buAutoNum type="arabicPeriod"/>
            </a:pPr>
            <a:endParaRPr lang="en-US" dirty="0"/>
          </a:p>
          <a:p>
            <a:pPr marL="1428750" lvl="1" indent="-742950">
              <a:buFont typeface="+mj-lt"/>
              <a:buAutoNum type="arabicPeriod"/>
            </a:pPr>
            <a:endParaRPr lang="en-US" dirty="0"/>
          </a:p>
        </p:txBody>
      </p:sp>
      <p:sp>
        <p:nvSpPr>
          <p:cNvPr id="5" name="TextBox 4"/>
          <p:cNvSpPr txBox="1"/>
          <p:nvPr/>
        </p:nvSpPr>
        <p:spPr>
          <a:xfrm>
            <a:off x="1031132" y="856033"/>
            <a:ext cx="9455285" cy="1015663"/>
          </a:xfrm>
          <a:prstGeom prst="rect">
            <a:avLst/>
          </a:prstGeom>
          <a:noFill/>
        </p:spPr>
        <p:txBody>
          <a:bodyPr wrap="square" rtlCol="0">
            <a:spAutoFit/>
          </a:bodyPr>
          <a:lstStyle/>
          <a:p>
            <a:r>
              <a:rPr lang="en-US" sz="6000" b="1" dirty="0">
                <a:latin typeface="Times New Roman" panose="02020603050405020304" pitchFamily="18" charset="0"/>
                <a:cs typeface="Times New Roman" panose="02020603050405020304" pitchFamily="18" charset="0"/>
              </a:rPr>
              <a:t>AIM AND OBJECTIVE</a:t>
            </a:r>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spTree>
    <p:extLst>
      <p:ext uri="{BB962C8B-B14F-4D97-AF65-F5344CB8AC3E}">
        <p14:creationId xmlns:p14="http://schemas.microsoft.com/office/powerpoint/2010/main" val="27280689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299197" y="478705"/>
            <a:ext cx="16401462" cy="19851588"/>
          </a:xfrm>
          <a:prstGeom prst="rect">
            <a:avLst/>
          </a:prstGeom>
          <a:noFill/>
        </p:spPr>
        <p:txBody>
          <a:bodyPr wrap="square" rtlCol="0">
            <a:spAutoFit/>
          </a:bodyPr>
          <a:lstStyle/>
          <a:p>
            <a:r>
              <a:rPr lang="en-US" sz="6000" b="1" dirty="0">
                <a:latin typeface="Times New Roman" panose="02020603050405020304" pitchFamily="18" charset="0"/>
                <a:cs typeface="Times New Roman" panose="02020603050405020304" pitchFamily="18" charset="0"/>
              </a:rPr>
              <a:t>COMPONENTS</a:t>
            </a:r>
          </a:p>
          <a:p>
            <a:endParaRPr lang="en-US" sz="6000" b="1" dirty="0">
              <a:latin typeface="+mj-lt"/>
            </a:endParaRPr>
          </a:p>
          <a:p>
            <a:r>
              <a:rPr lang="en-US" sz="2800" dirty="0">
                <a:latin typeface="Times New Roman" panose="02020603050405020304" pitchFamily="18" charset="0"/>
                <a:cs typeface="Times New Roman" panose="02020603050405020304" pitchFamily="18" charset="0"/>
              </a:rPr>
              <a:t>HARDWARE:-</a:t>
            </a:r>
          </a:p>
          <a:p>
            <a:pPr algn="l"/>
            <a:endParaRPr lang="en-IN" sz="2800" b="0" i="0" u="none" strike="noStrike" baseline="0" dirty="0">
              <a:solidFill>
                <a:srgbClr val="000000"/>
              </a:solidFill>
              <a:latin typeface="Times New Roman" panose="02020603050405020304" pitchFamily="18" charset="0"/>
            </a:endParaRPr>
          </a:p>
          <a:p>
            <a:pPr marL="342900" indent="-342900">
              <a:buFont typeface="Arial" panose="020B0604020202020204" pitchFamily="34" charset="0"/>
              <a:buChar char="•"/>
            </a:pPr>
            <a:r>
              <a:rPr lang="en-IN" sz="2800" b="0" i="0" u="none" strike="noStrike" baseline="0" dirty="0">
                <a:solidFill>
                  <a:srgbClr val="000000"/>
                </a:solidFill>
                <a:latin typeface="Times New Roman" panose="02020603050405020304" pitchFamily="18" charset="0"/>
              </a:rPr>
              <a:t>Raspberry Pi 3 </a:t>
            </a:r>
          </a:p>
          <a:p>
            <a:pPr marL="342900" indent="-342900">
              <a:buFont typeface="Arial" panose="020B0604020202020204" pitchFamily="34" charset="0"/>
              <a:buChar char="•"/>
            </a:pPr>
            <a:r>
              <a:rPr lang="en-IN" sz="2800" b="0" i="0" u="none" strike="noStrike" baseline="0" dirty="0">
                <a:solidFill>
                  <a:srgbClr val="000000"/>
                </a:solidFill>
                <a:latin typeface="Times New Roman" panose="02020603050405020304" pitchFamily="18" charset="0"/>
              </a:rPr>
              <a:t>DHT11 Digital Temperature Humidity Sensor  </a:t>
            </a:r>
          </a:p>
          <a:p>
            <a:pPr marL="342900" indent="-342900">
              <a:buFont typeface="Arial" panose="020B0604020202020204" pitchFamily="34" charset="0"/>
              <a:buChar char="•"/>
            </a:pPr>
            <a:r>
              <a:rPr lang="en-IN" sz="2800" b="0" i="0" u="none" strike="noStrike" baseline="0" dirty="0">
                <a:solidFill>
                  <a:srgbClr val="000000"/>
                </a:solidFill>
                <a:latin typeface="Times New Roman" panose="02020603050405020304" pitchFamily="18" charset="0"/>
              </a:rPr>
              <a:t>Rain Drop Sensor  </a:t>
            </a:r>
          </a:p>
          <a:p>
            <a:pPr marL="342900" indent="-342900">
              <a:buFont typeface="Arial" panose="020B0604020202020204" pitchFamily="34" charset="0"/>
              <a:buChar char="•"/>
            </a:pPr>
            <a:r>
              <a:rPr lang="en-IN" sz="2800" b="0" i="0" u="none" strike="noStrike" baseline="0" dirty="0">
                <a:solidFill>
                  <a:srgbClr val="000000"/>
                </a:solidFill>
                <a:latin typeface="Times New Roman" panose="02020603050405020304" pitchFamily="18" charset="0"/>
              </a:rPr>
              <a:t>LCD’s </a:t>
            </a:r>
          </a:p>
          <a:p>
            <a:pPr marL="342900" indent="-342900">
              <a:buFont typeface="Arial" panose="020B0604020202020204" pitchFamily="34" charset="0"/>
              <a:buChar char="•"/>
            </a:pPr>
            <a:r>
              <a:rPr lang="en-IN" sz="2800" b="0" i="0" u="none" strike="noStrike" baseline="0" dirty="0">
                <a:solidFill>
                  <a:srgbClr val="000000"/>
                </a:solidFill>
                <a:latin typeface="Times New Roman" panose="02020603050405020304" pitchFamily="18" charset="0"/>
              </a:rPr>
              <a:t>Resistors </a:t>
            </a:r>
          </a:p>
          <a:p>
            <a:pPr marL="342900" indent="-342900">
              <a:buFont typeface="Arial" panose="020B0604020202020204" pitchFamily="34" charset="0"/>
              <a:buChar char="•"/>
            </a:pPr>
            <a:r>
              <a:rPr lang="en-IN" sz="2800" b="0" i="0" u="none" strike="noStrike" baseline="0" dirty="0">
                <a:solidFill>
                  <a:srgbClr val="000000"/>
                </a:solidFill>
                <a:latin typeface="Times New Roman" panose="02020603050405020304" pitchFamily="18" charset="0"/>
              </a:rPr>
              <a:t>Capacitors </a:t>
            </a:r>
          </a:p>
          <a:p>
            <a:pPr marL="342900" indent="-342900">
              <a:buFont typeface="Arial" panose="020B0604020202020204" pitchFamily="34" charset="0"/>
              <a:buChar char="•"/>
            </a:pPr>
            <a:r>
              <a:rPr lang="en-IN" sz="2800" b="0" i="0" u="none" strike="noStrike" baseline="0" dirty="0">
                <a:solidFill>
                  <a:srgbClr val="000000"/>
                </a:solidFill>
                <a:latin typeface="Times New Roman" panose="02020603050405020304" pitchFamily="18" charset="0"/>
              </a:rPr>
              <a:t>Cables &amp; Connectors</a:t>
            </a:r>
          </a:p>
          <a:p>
            <a:pPr marL="342900" indent="-342900">
              <a:buFont typeface="Arial" panose="020B0604020202020204" pitchFamily="34" charset="0"/>
              <a:buChar char="•"/>
            </a:pPr>
            <a:r>
              <a:rPr lang="en-US" sz="2800" b="0" i="0" u="none" strike="noStrike" baseline="0" dirty="0">
                <a:solidFill>
                  <a:srgbClr val="000000"/>
                </a:solidFill>
                <a:latin typeface="Times New Roman" panose="02020603050405020304" pitchFamily="18" charset="0"/>
              </a:rPr>
              <a:t>PCB</a:t>
            </a:r>
            <a:endParaRPr lang="en-IN" sz="2800" b="0" i="0" u="none" strike="noStrike" baseline="0" dirty="0">
              <a:solidFill>
                <a:srgbClr val="000000"/>
              </a:solidFill>
              <a:latin typeface="Times New Roman" panose="02020603050405020304" pitchFamily="18" charset="0"/>
            </a:endParaRPr>
          </a:p>
          <a:p>
            <a:pPr marL="342900" indent="-342900">
              <a:buFont typeface="Arial" panose="020B0604020202020204" pitchFamily="34" charset="0"/>
              <a:buChar char="•"/>
            </a:pPr>
            <a:r>
              <a:rPr lang="en-IN" sz="2800" b="0" i="0" u="none" strike="noStrike" baseline="0" dirty="0">
                <a:solidFill>
                  <a:srgbClr val="000000"/>
                </a:solidFill>
                <a:latin typeface="Times New Roman" panose="02020603050405020304" pitchFamily="18" charset="0"/>
              </a:rPr>
              <a:t>Transformer/Adapter  </a:t>
            </a:r>
            <a:endParaRPr lang="en-US" sz="2800" b="0" i="0" u="none" strike="noStrike" baseline="0" dirty="0">
              <a:solidFill>
                <a:srgbClr val="000000"/>
              </a:solidFill>
              <a:latin typeface="Times New Roman" panose="02020603050405020304" pitchFamily="18" charset="0"/>
            </a:endParaRPr>
          </a:p>
          <a:p>
            <a:endParaRPr lang="en-US" sz="2800" dirty="0">
              <a:solidFill>
                <a:srgbClr val="000000"/>
              </a:solidFill>
              <a:latin typeface="Times New Roman" panose="02020603050405020304" pitchFamily="18" charset="0"/>
            </a:endParaRPr>
          </a:p>
          <a:p>
            <a:r>
              <a:rPr lang="en-US" sz="2800" b="0" i="0" u="none" strike="noStrike" baseline="0" dirty="0">
                <a:solidFill>
                  <a:srgbClr val="000000"/>
                </a:solidFill>
                <a:latin typeface="Times New Roman" panose="02020603050405020304" pitchFamily="18" charset="0"/>
                <a:cs typeface="Times New Roman" panose="02020603050405020304" pitchFamily="18" charset="0"/>
              </a:rPr>
              <a:t>SOFTWARE:-</a:t>
            </a:r>
          </a:p>
          <a:p>
            <a:pPr algn="l"/>
            <a:endParaRPr lang="en-IN" sz="2800" b="0" i="0" u="none" strike="noStrike" baseline="0" dirty="0">
              <a:solidFill>
                <a:srgbClr val="000000"/>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800" b="0" i="0" u="none" strike="noStrike" baseline="0" dirty="0">
                <a:solidFill>
                  <a:srgbClr val="000000"/>
                </a:solidFill>
                <a:latin typeface="Times New Roman" panose="02020603050405020304" pitchFamily="18" charset="0"/>
                <a:cs typeface="Times New Roman" panose="02020603050405020304" pitchFamily="18" charset="0"/>
              </a:rPr>
              <a:t>Python </a:t>
            </a:r>
          </a:p>
          <a:p>
            <a:pPr marL="342900" indent="-342900">
              <a:buFont typeface="Arial" panose="020B0604020202020204" pitchFamily="34" charset="0"/>
              <a:buChar char="•"/>
            </a:pPr>
            <a:r>
              <a:rPr lang="en-IN" sz="2800" b="0" i="0" u="none" strike="noStrike" baseline="0" dirty="0">
                <a:solidFill>
                  <a:srgbClr val="000000"/>
                </a:solidFill>
                <a:latin typeface="Times New Roman" panose="02020603050405020304" pitchFamily="18" charset="0"/>
                <a:cs typeface="Times New Roman" panose="02020603050405020304" pitchFamily="18" charset="0"/>
              </a:rPr>
              <a:t>OS: </a:t>
            </a:r>
            <a:r>
              <a:rPr lang="en-IN" sz="2800" b="0" i="0" u="none" strike="noStrike" baseline="0" dirty="0" err="1">
                <a:solidFill>
                  <a:srgbClr val="000000"/>
                </a:solidFill>
                <a:latin typeface="Times New Roman" panose="02020603050405020304" pitchFamily="18" charset="0"/>
                <a:cs typeface="Times New Roman" panose="02020603050405020304" pitchFamily="18" charset="0"/>
              </a:rPr>
              <a:t>linux</a:t>
            </a:r>
            <a:r>
              <a:rPr lang="en-IN" sz="2800" b="0" i="0" u="none" strike="noStrike" baseline="0" dirty="0">
                <a:solidFill>
                  <a:srgbClr val="000000"/>
                </a:solidFill>
                <a:latin typeface="Times New Roman" panose="02020603050405020304" pitchFamily="18" charset="0"/>
                <a:cs typeface="Times New Roman" panose="02020603050405020304" pitchFamily="18" charset="0"/>
              </a:rPr>
              <a:t> </a:t>
            </a:r>
          </a:p>
          <a:p>
            <a:endParaRPr lang="en-IN" sz="3200" b="0" i="0" u="none" strike="noStrike" baseline="0" dirty="0">
              <a:solidFill>
                <a:srgbClr val="000000"/>
              </a:solidFill>
              <a:latin typeface="Times New Roman" panose="02020603050405020304" pitchFamily="18" charset="0"/>
            </a:endParaRPr>
          </a:p>
          <a:p>
            <a:endParaRPr lang="en-US" sz="3200" dirty="0">
              <a:latin typeface="Times New Roman" panose="02020603050405020304" pitchFamily="18" charset="0"/>
              <a:cs typeface="Times New Roman" panose="02020603050405020304" pitchFamily="18" charset="0"/>
            </a:endParaRPr>
          </a:p>
          <a:p>
            <a:endParaRPr lang="en-US" sz="3200" dirty="0">
              <a:latin typeface="+mj-lt"/>
            </a:endParaRPr>
          </a:p>
          <a:p>
            <a:endParaRPr lang="en-US" sz="6000" b="1" dirty="0">
              <a:latin typeface="+mj-lt"/>
            </a:endParaRPr>
          </a:p>
          <a:p>
            <a:endParaRPr lang="en-US" sz="2000" dirty="0">
              <a:latin typeface="+mj-lt"/>
            </a:endParaRPr>
          </a:p>
          <a:p>
            <a:endParaRPr lang="en-US" sz="6000" b="1" dirty="0">
              <a:latin typeface="+mj-lt"/>
            </a:endParaRPr>
          </a:p>
          <a:p>
            <a:endParaRPr lang="en-US" sz="6000" b="1" dirty="0">
              <a:latin typeface="+mj-lt"/>
            </a:endParaRPr>
          </a:p>
          <a:p>
            <a:endParaRPr lang="en-US" sz="6000" b="1" dirty="0">
              <a:latin typeface="+mj-lt"/>
            </a:endParaRPr>
          </a:p>
          <a:p>
            <a:endParaRPr lang="en-US" sz="6000" b="1" dirty="0">
              <a:latin typeface="+mj-lt"/>
            </a:endParaRPr>
          </a:p>
          <a:p>
            <a:endParaRPr lang="en-US" sz="6000" b="1" dirty="0">
              <a:latin typeface="+mj-lt"/>
            </a:endParaRPr>
          </a:p>
          <a:p>
            <a:endParaRPr lang="en-US" sz="6000" b="1" dirty="0">
              <a:latin typeface="+mj-lt"/>
            </a:endParaRPr>
          </a:p>
          <a:p>
            <a:endParaRPr lang="en-US" sz="6000" b="1" dirty="0">
              <a:latin typeface="+mj-lt"/>
            </a:endParaRPr>
          </a:p>
          <a:p>
            <a:endParaRPr lang="en-US" sz="6000" b="1" dirty="0">
              <a:latin typeface="+mj-lt"/>
            </a:endParaRPr>
          </a:p>
          <a:p>
            <a:endParaRPr lang="en-US" sz="6000" b="1" dirty="0">
              <a:latin typeface="+mj-lt"/>
            </a:endParaRPr>
          </a:p>
        </p:txBody>
      </p:sp>
    </p:spTree>
    <p:extLst>
      <p:ext uri="{BB962C8B-B14F-4D97-AF65-F5344CB8AC3E}">
        <p14:creationId xmlns:p14="http://schemas.microsoft.com/office/powerpoint/2010/main" val="30724624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D0840-0464-1A0F-404E-C28412BCC353}"/>
              </a:ext>
            </a:extLst>
          </p:cNvPr>
          <p:cNvSpPr>
            <a:spLocks noGrp="1"/>
          </p:cNvSpPr>
          <p:nvPr>
            <p:ph type="title"/>
          </p:nvPr>
        </p:nvSpPr>
        <p:spPr>
          <a:xfrm>
            <a:off x="1021080" y="222705"/>
            <a:ext cx="15773400" cy="1988345"/>
          </a:xfrm>
        </p:spPr>
        <p:txBody>
          <a:bodyPr/>
          <a:lstStyle/>
          <a:p>
            <a:r>
              <a:rPr lang="en-IN" b="1" dirty="0">
                <a:latin typeface="Times New Roman" panose="02020603050405020304" pitchFamily="18" charset="0"/>
                <a:cs typeface="Times New Roman" panose="02020603050405020304" pitchFamily="18" charset="0"/>
              </a:rPr>
              <a:t>BLOCK DIAGRAM</a:t>
            </a:r>
          </a:p>
        </p:txBody>
      </p:sp>
      <p:sp>
        <p:nvSpPr>
          <p:cNvPr id="3" name="Slide Number Placeholder 2">
            <a:extLst>
              <a:ext uri="{FF2B5EF4-FFF2-40B4-BE49-F238E27FC236}">
                <a16:creationId xmlns:a16="http://schemas.microsoft.com/office/drawing/2014/main" id="{A3B723D1-280F-C919-E967-5802EA04E6DF}"/>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sp>
        <p:nvSpPr>
          <p:cNvPr id="31" name="Rectangle 30">
            <a:extLst>
              <a:ext uri="{FF2B5EF4-FFF2-40B4-BE49-F238E27FC236}">
                <a16:creationId xmlns:a16="http://schemas.microsoft.com/office/drawing/2014/main" id="{E05F0BF8-3B25-1BE0-4220-5FB4DF7A95AD}"/>
              </a:ext>
            </a:extLst>
          </p:cNvPr>
          <p:cNvSpPr/>
          <p:nvPr/>
        </p:nvSpPr>
        <p:spPr>
          <a:xfrm>
            <a:off x="2065019" y="2565086"/>
            <a:ext cx="2270760" cy="1082040"/>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sz="2400" dirty="0">
                <a:latin typeface="Times New Roman" panose="02020603050405020304" pitchFamily="18" charset="0"/>
                <a:cs typeface="Times New Roman" panose="02020603050405020304" pitchFamily="18" charset="0"/>
              </a:rPr>
              <a:t>Power</a:t>
            </a:r>
          </a:p>
          <a:p>
            <a:pPr algn="ctr"/>
            <a:r>
              <a:rPr lang="en-IN" sz="2400" dirty="0">
                <a:latin typeface="Times New Roman" panose="02020603050405020304" pitchFamily="18" charset="0"/>
                <a:cs typeface="Times New Roman" panose="02020603050405020304" pitchFamily="18" charset="0"/>
              </a:rPr>
              <a:t>Supply</a:t>
            </a:r>
          </a:p>
        </p:txBody>
      </p:sp>
      <p:sp>
        <p:nvSpPr>
          <p:cNvPr id="32" name="Rectangle 31">
            <a:extLst>
              <a:ext uri="{FF2B5EF4-FFF2-40B4-BE49-F238E27FC236}">
                <a16:creationId xmlns:a16="http://schemas.microsoft.com/office/drawing/2014/main" id="{10BB617C-A0E2-FC6F-A220-5A912F019E5F}"/>
              </a:ext>
            </a:extLst>
          </p:cNvPr>
          <p:cNvSpPr/>
          <p:nvPr/>
        </p:nvSpPr>
        <p:spPr>
          <a:xfrm>
            <a:off x="5189220" y="2584307"/>
            <a:ext cx="2042160" cy="1082040"/>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sz="2400" dirty="0">
                <a:latin typeface="Times New Roman" panose="02020603050405020304" pitchFamily="18" charset="0"/>
                <a:cs typeface="Times New Roman" panose="02020603050405020304" pitchFamily="18" charset="0"/>
              </a:rPr>
              <a:t>Rectifie</a:t>
            </a:r>
            <a:r>
              <a:rPr lang="en-IN" sz="2800" dirty="0">
                <a:latin typeface="Times New Roman" panose="02020603050405020304" pitchFamily="18" charset="0"/>
                <a:cs typeface="Times New Roman" panose="02020603050405020304" pitchFamily="18" charset="0"/>
              </a:rPr>
              <a:t>r</a:t>
            </a:r>
          </a:p>
        </p:txBody>
      </p:sp>
      <p:sp>
        <p:nvSpPr>
          <p:cNvPr id="33" name="Rectangle 32">
            <a:extLst>
              <a:ext uri="{FF2B5EF4-FFF2-40B4-BE49-F238E27FC236}">
                <a16:creationId xmlns:a16="http://schemas.microsoft.com/office/drawing/2014/main" id="{17A9DE55-5FCB-B197-A7AD-73E50766F6AE}"/>
              </a:ext>
            </a:extLst>
          </p:cNvPr>
          <p:cNvSpPr/>
          <p:nvPr/>
        </p:nvSpPr>
        <p:spPr>
          <a:xfrm>
            <a:off x="8001000" y="2531268"/>
            <a:ext cx="2179320" cy="1082040"/>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sz="2400" dirty="0">
                <a:latin typeface="Times New Roman" panose="02020603050405020304" pitchFamily="18" charset="0"/>
                <a:cs typeface="Times New Roman" panose="02020603050405020304" pitchFamily="18" charset="0"/>
              </a:rPr>
              <a:t>5V Regulator</a:t>
            </a:r>
          </a:p>
        </p:txBody>
      </p:sp>
      <p:sp>
        <p:nvSpPr>
          <p:cNvPr id="34" name="Rectangle 33">
            <a:extLst>
              <a:ext uri="{FF2B5EF4-FFF2-40B4-BE49-F238E27FC236}">
                <a16:creationId xmlns:a16="http://schemas.microsoft.com/office/drawing/2014/main" id="{7A66EC48-7A6E-9A5B-7D8F-DD97BC941F65}"/>
              </a:ext>
            </a:extLst>
          </p:cNvPr>
          <p:cNvSpPr/>
          <p:nvPr/>
        </p:nvSpPr>
        <p:spPr>
          <a:xfrm>
            <a:off x="11555730" y="4367219"/>
            <a:ext cx="2446020" cy="953448"/>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sz="2400" dirty="0">
                <a:latin typeface="Times New Roman" panose="02020603050405020304" pitchFamily="18" charset="0"/>
                <a:cs typeface="Times New Roman" panose="02020603050405020304" pitchFamily="18" charset="0"/>
              </a:rPr>
              <a:t>LCD Display</a:t>
            </a:r>
          </a:p>
        </p:txBody>
      </p:sp>
      <p:sp>
        <p:nvSpPr>
          <p:cNvPr id="35" name="Rectangle 34">
            <a:extLst>
              <a:ext uri="{FF2B5EF4-FFF2-40B4-BE49-F238E27FC236}">
                <a16:creationId xmlns:a16="http://schemas.microsoft.com/office/drawing/2014/main" id="{EB8AF4A4-E3FB-48FB-924E-D85A605C8FE9}"/>
              </a:ext>
            </a:extLst>
          </p:cNvPr>
          <p:cNvSpPr/>
          <p:nvPr/>
        </p:nvSpPr>
        <p:spPr>
          <a:xfrm>
            <a:off x="11555730" y="6035279"/>
            <a:ext cx="2446020" cy="914400"/>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sz="2400" dirty="0">
                <a:latin typeface="Times New Roman" panose="02020603050405020304" pitchFamily="18" charset="0"/>
                <a:cs typeface="Times New Roman" panose="02020603050405020304" pitchFamily="18" charset="0"/>
              </a:rPr>
              <a:t>IOT</a:t>
            </a:r>
          </a:p>
        </p:txBody>
      </p:sp>
      <p:sp>
        <p:nvSpPr>
          <p:cNvPr id="36" name="Rectangle 35">
            <a:extLst>
              <a:ext uri="{FF2B5EF4-FFF2-40B4-BE49-F238E27FC236}">
                <a16:creationId xmlns:a16="http://schemas.microsoft.com/office/drawing/2014/main" id="{3EEB3688-7295-07EF-FFAA-0576CCA9E195}"/>
              </a:ext>
            </a:extLst>
          </p:cNvPr>
          <p:cNvSpPr/>
          <p:nvPr/>
        </p:nvSpPr>
        <p:spPr>
          <a:xfrm>
            <a:off x="9799320" y="8352592"/>
            <a:ext cx="2179320" cy="1082040"/>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sz="2400" dirty="0">
                <a:latin typeface="Times New Roman" panose="02020603050405020304" pitchFamily="18" charset="0"/>
                <a:cs typeface="Times New Roman" panose="02020603050405020304" pitchFamily="18" charset="0"/>
              </a:rPr>
              <a:t>Raindrop Sensor</a:t>
            </a:r>
          </a:p>
        </p:txBody>
      </p:sp>
      <p:sp>
        <p:nvSpPr>
          <p:cNvPr id="37" name="Rectangle 36">
            <a:extLst>
              <a:ext uri="{FF2B5EF4-FFF2-40B4-BE49-F238E27FC236}">
                <a16:creationId xmlns:a16="http://schemas.microsoft.com/office/drawing/2014/main" id="{D6017ADA-C2DF-7CC8-6EF7-8FCD6A63AE85}"/>
              </a:ext>
            </a:extLst>
          </p:cNvPr>
          <p:cNvSpPr/>
          <p:nvPr/>
        </p:nvSpPr>
        <p:spPr>
          <a:xfrm>
            <a:off x="6446521" y="8333957"/>
            <a:ext cx="2042160" cy="1082040"/>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sz="2400" dirty="0">
                <a:latin typeface="Times New Roman" panose="02020603050405020304" pitchFamily="18" charset="0"/>
                <a:cs typeface="Times New Roman" panose="02020603050405020304" pitchFamily="18" charset="0"/>
              </a:rPr>
              <a:t>Humidity &amp;</a:t>
            </a:r>
          </a:p>
          <a:p>
            <a:pPr algn="ctr"/>
            <a:r>
              <a:rPr lang="en-IN" sz="2400" dirty="0">
                <a:latin typeface="Times New Roman" panose="02020603050405020304" pitchFamily="18" charset="0"/>
                <a:cs typeface="Times New Roman" panose="02020603050405020304" pitchFamily="18" charset="0"/>
              </a:rPr>
              <a:t>Temp. Sensor</a:t>
            </a:r>
          </a:p>
        </p:txBody>
      </p:sp>
      <p:sp>
        <p:nvSpPr>
          <p:cNvPr id="38" name="Rectangle 37">
            <a:extLst>
              <a:ext uri="{FF2B5EF4-FFF2-40B4-BE49-F238E27FC236}">
                <a16:creationId xmlns:a16="http://schemas.microsoft.com/office/drawing/2014/main" id="{4F790E03-A3E4-DAD0-578B-81BA1020C616}"/>
              </a:ext>
            </a:extLst>
          </p:cNvPr>
          <p:cNvSpPr/>
          <p:nvPr/>
        </p:nvSpPr>
        <p:spPr>
          <a:xfrm>
            <a:off x="7833360" y="4314827"/>
            <a:ext cx="2712720" cy="3440905"/>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sz="2400" dirty="0">
                <a:latin typeface="Times New Roman" panose="02020603050405020304" pitchFamily="18" charset="0"/>
                <a:cs typeface="Times New Roman" panose="02020603050405020304" pitchFamily="18" charset="0"/>
              </a:rPr>
              <a:t>Raspberry Pi</a:t>
            </a:r>
          </a:p>
        </p:txBody>
      </p:sp>
      <p:sp>
        <p:nvSpPr>
          <p:cNvPr id="45" name="Arrow: Right 44">
            <a:extLst>
              <a:ext uri="{FF2B5EF4-FFF2-40B4-BE49-F238E27FC236}">
                <a16:creationId xmlns:a16="http://schemas.microsoft.com/office/drawing/2014/main" id="{CE7AF8F2-8E30-EEC7-7A04-48AD7FAB4C9D}"/>
              </a:ext>
            </a:extLst>
          </p:cNvPr>
          <p:cNvSpPr/>
          <p:nvPr/>
        </p:nvSpPr>
        <p:spPr>
          <a:xfrm>
            <a:off x="4335780" y="2935134"/>
            <a:ext cx="838200" cy="344328"/>
          </a:xfrm>
          <a:prstGeom prst="rightArrow">
            <a:avLst/>
          </a:prstGeom>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ln w="0"/>
              <a:solidFill>
                <a:schemeClr val="tx1"/>
              </a:solidFill>
              <a:effectLst>
                <a:outerShdw blurRad="38100" dist="19050" dir="2700000" algn="tl" rotWithShape="0">
                  <a:schemeClr val="dk1">
                    <a:alpha val="40000"/>
                  </a:schemeClr>
                </a:outerShdw>
              </a:effectLst>
            </a:endParaRPr>
          </a:p>
        </p:txBody>
      </p:sp>
      <p:sp>
        <p:nvSpPr>
          <p:cNvPr id="46" name="Arrow: Right 45">
            <a:extLst>
              <a:ext uri="{FF2B5EF4-FFF2-40B4-BE49-F238E27FC236}">
                <a16:creationId xmlns:a16="http://schemas.microsoft.com/office/drawing/2014/main" id="{BA652532-5BA1-42FA-82C5-C5F4084FD28C}"/>
              </a:ext>
            </a:extLst>
          </p:cNvPr>
          <p:cNvSpPr/>
          <p:nvPr/>
        </p:nvSpPr>
        <p:spPr>
          <a:xfrm>
            <a:off x="7216140" y="2959063"/>
            <a:ext cx="784860" cy="344328"/>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50" name="Arrow: Down 49">
            <a:extLst>
              <a:ext uri="{FF2B5EF4-FFF2-40B4-BE49-F238E27FC236}">
                <a16:creationId xmlns:a16="http://schemas.microsoft.com/office/drawing/2014/main" id="{23C2DB91-3654-BAC0-5EC8-5A456260C572}"/>
              </a:ext>
            </a:extLst>
          </p:cNvPr>
          <p:cNvSpPr/>
          <p:nvPr/>
        </p:nvSpPr>
        <p:spPr>
          <a:xfrm>
            <a:off x="8907780" y="3626819"/>
            <a:ext cx="365760" cy="694972"/>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p>
        </p:txBody>
      </p:sp>
      <p:sp>
        <p:nvSpPr>
          <p:cNvPr id="51" name="Arrow: Down 50">
            <a:extLst>
              <a:ext uri="{FF2B5EF4-FFF2-40B4-BE49-F238E27FC236}">
                <a16:creationId xmlns:a16="http://schemas.microsoft.com/office/drawing/2014/main" id="{6040EE12-605B-297B-27DD-937E08C21E1F}"/>
              </a:ext>
            </a:extLst>
          </p:cNvPr>
          <p:cNvSpPr/>
          <p:nvPr/>
        </p:nvSpPr>
        <p:spPr>
          <a:xfrm>
            <a:off x="7924800" y="7741862"/>
            <a:ext cx="350520" cy="592095"/>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52" name="Arrow: Down 51">
            <a:extLst>
              <a:ext uri="{FF2B5EF4-FFF2-40B4-BE49-F238E27FC236}">
                <a16:creationId xmlns:a16="http://schemas.microsoft.com/office/drawing/2014/main" id="{0227371D-3B53-7A45-0644-7C78B1E1D912}"/>
              </a:ext>
            </a:extLst>
          </p:cNvPr>
          <p:cNvSpPr/>
          <p:nvPr/>
        </p:nvSpPr>
        <p:spPr>
          <a:xfrm>
            <a:off x="9829800" y="7755732"/>
            <a:ext cx="350520" cy="578225"/>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55" name="Arrow: Right 54">
            <a:extLst>
              <a:ext uri="{FF2B5EF4-FFF2-40B4-BE49-F238E27FC236}">
                <a16:creationId xmlns:a16="http://schemas.microsoft.com/office/drawing/2014/main" id="{7E01299B-8BE9-73D7-EDB9-DA68352EE89A}"/>
              </a:ext>
            </a:extLst>
          </p:cNvPr>
          <p:cNvSpPr/>
          <p:nvPr/>
        </p:nvSpPr>
        <p:spPr>
          <a:xfrm>
            <a:off x="10530840" y="4649633"/>
            <a:ext cx="1024890" cy="388620"/>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solidFill>
                <a:schemeClr val="tx1"/>
              </a:solidFill>
            </a:endParaRPr>
          </a:p>
        </p:txBody>
      </p:sp>
      <p:sp>
        <p:nvSpPr>
          <p:cNvPr id="56" name="Arrow: Right 55">
            <a:extLst>
              <a:ext uri="{FF2B5EF4-FFF2-40B4-BE49-F238E27FC236}">
                <a16:creationId xmlns:a16="http://schemas.microsoft.com/office/drawing/2014/main" id="{1B9C702E-DBAD-CECB-AAC9-B35BCE52D092}"/>
              </a:ext>
            </a:extLst>
          </p:cNvPr>
          <p:cNvSpPr/>
          <p:nvPr/>
        </p:nvSpPr>
        <p:spPr>
          <a:xfrm>
            <a:off x="10530840" y="6205304"/>
            <a:ext cx="1024890" cy="388619"/>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cxnSp>
        <p:nvCxnSpPr>
          <p:cNvPr id="59" name="Straight Connector 58">
            <a:extLst>
              <a:ext uri="{FF2B5EF4-FFF2-40B4-BE49-F238E27FC236}">
                <a16:creationId xmlns:a16="http://schemas.microsoft.com/office/drawing/2014/main" id="{27D6EE43-C498-7CAE-4598-EBF914A63E5F}"/>
              </a:ext>
            </a:extLst>
          </p:cNvPr>
          <p:cNvCxnSpPr>
            <a:cxnSpLocks/>
            <a:stCxn id="33" idx="3"/>
          </p:cNvCxnSpPr>
          <p:nvPr/>
        </p:nvCxnSpPr>
        <p:spPr>
          <a:xfrm>
            <a:off x="10180320" y="3072288"/>
            <a:ext cx="24460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770DD7F7-089C-A79D-B70B-62F15F24B9FC}"/>
              </a:ext>
            </a:extLst>
          </p:cNvPr>
          <p:cNvCxnSpPr/>
          <p:nvPr/>
        </p:nvCxnSpPr>
        <p:spPr>
          <a:xfrm>
            <a:off x="12626340" y="3072288"/>
            <a:ext cx="0" cy="129493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33642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399" y="2315587"/>
            <a:ext cx="14261689" cy="8402300"/>
          </a:xfrm>
          <a:prstGeom prst="rect">
            <a:avLst/>
          </a:prstGeom>
          <a:noFill/>
        </p:spPr>
        <p:txBody>
          <a:bodyPr wrap="square" rtlCol="0">
            <a:spAutoFit/>
          </a:bodyPr>
          <a:lstStyle/>
          <a:p>
            <a:endParaRPr lang="en-IN" sz="3200" b="0" i="0" u="none" strike="noStrike" baseline="0" dirty="0">
              <a:solidFill>
                <a:srgbClr val="000000"/>
              </a:solidFill>
              <a:latin typeface="Arial" panose="020B0604020202020204" pitchFamily="34" charset="0"/>
            </a:endParaRPr>
          </a:p>
          <a:p>
            <a:r>
              <a:rPr lang="en-IN" sz="3200" b="1" i="0" u="none" strike="noStrike" baseline="0" dirty="0">
                <a:solidFill>
                  <a:srgbClr val="000000"/>
                </a:solidFill>
                <a:latin typeface="Times New Roman" panose="02020603050405020304" pitchFamily="18" charset="0"/>
                <a:cs typeface="Times New Roman" panose="02020603050405020304" pitchFamily="18" charset="0"/>
              </a:rPr>
              <a:t>ADVANTAGES: </a:t>
            </a:r>
          </a:p>
          <a:p>
            <a:endParaRPr lang="en-IN" sz="3200" b="1" i="0" u="none" strike="noStrike" baseline="0" dirty="0">
              <a:solidFill>
                <a:srgbClr val="000000"/>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IN" sz="2800" b="0" i="0" dirty="0">
                <a:effectLst/>
                <a:latin typeface="Times New Roman" panose="02020603050405020304" pitchFamily="18" charset="0"/>
                <a:cs typeface="Times New Roman" panose="02020603050405020304" pitchFamily="18" charset="0"/>
              </a:rPr>
              <a:t>Data processing</a:t>
            </a:r>
            <a:endParaRPr lang="en-IN" sz="2800" b="1" dirty="0">
              <a:effectLst/>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IN" sz="2800" b="0" i="0" dirty="0">
                <a:effectLst/>
                <a:latin typeface="Times New Roman" panose="02020603050405020304" pitchFamily="18" charset="0"/>
                <a:cs typeface="Times New Roman" panose="02020603050405020304" pitchFamily="18" charset="0"/>
              </a:rPr>
              <a:t>Energy efficiency</a:t>
            </a:r>
            <a:endParaRPr lang="en-IN" sz="2800" b="1" i="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IN" sz="2800" b="0" i="0" dirty="0">
                <a:effectLst/>
                <a:latin typeface="Times New Roman" panose="02020603050405020304" pitchFamily="18" charset="0"/>
                <a:cs typeface="Times New Roman" panose="02020603050405020304" pitchFamily="18" charset="0"/>
              </a:rPr>
              <a:t>Cost-effectiveness</a:t>
            </a:r>
            <a:endParaRPr lang="en-IN" sz="2800" b="0" i="0" u="none" strike="noStrike" baseline="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b="0" i="0" u="none" strike="noStrike" baseline="0" dirty="0">
                <a:solidFill>
                  <a:srgbClr val="000000"/>
                </a:solidFill>
                <a:latin typeface="Times New Roman" panose="02020603050405020304" pitchFamily="18" charset="0"/>
                <a:cs typeface="Times New Roman" panose="02020603050405020304" pitchFamily="18" charset="0"/>
              </a:rPr>
              <a:t>Easy to Operate the System </a:t>
            </a:r>
          </a:p>
          <a:p>
            <a:endParaRPr lang="en-IN" sz="3200" dirty="0">
              <a:solidFill>
                <a:srgbClr val="000000"/>
              </a:solidFill>
              <a:latin typeface="Times New Roman" panose="02020603050405020304" pitchFamily="18" charset="0"/>
              <a:cs typeface="Times New Roman" panose="02020603050405020304" pitchFamily="18" charset="0"/>
            </a:endParaRPr>
          </a:p>
          <a:p>
            <a:r>
              <a:rPr lang="en-IN" sz="3200" b="1" i="0" u="none" strike="noStrike" baseline="0" dirty="0">
                <a:solidFill>
                  <a:srgbClr val="000000"/>
                </a:solidFill>
                <a:latin typeface="Times New Roman" panose="02020603050405020304" pitchFamily="18" charset="0"/>
                <a:cs typeface="Times New Roman" panose="02020603050405020304" pitchFamily="18" charset="0"/>
              </a:rPr>
              <a:t>APPLICATIONS: </a:t>
            </a:r>
          </a:p>
          <a:p>
            <a:endParaRPr lang="en-IN" sz="3200" b="0" i="0" u="none" strike="noStrike" baseline="0" dirty="0">
              <a:solidFill>
                <a:srgbClr val="000000"/>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IN" sz="2800" b="0" i="0" u="none" strike="noStrike" baseline="0" dirty="0">
                <a:solidFill>
                  <a:srgbClr val="000000"/>
                </a:solidFill>
                <a:latin typeface="Times New Roman" panose="02020603050405020304" pitchFamily="18" charset="0"/>
                <a:cs typeface="Times New Roman" panose="02020603050405020304" pitchFamily="18" charset="0"/>
              </a:rPr>
              <a:t>Weather Monitoring </a:t>
            </a:r>
          </a:p>
          <a:p>
            <a:pPr marL="457200" indent="-457200">
              <a:buFont typeface="Arial" panose="020B0604020202020204" pitchFamily="34" charset="0"/>
              <a:buChar char="•"/>
            </a:pPr>
            <a:r>
              <a:rPr lang="en-IN" sz="2800" b="0" i="0" u="none" strike="noStrike" baseline="0" dirty="0">
                <a:solidFill>
                  <a:srgbClr val="000000"/>
                </a:solidFill>
                <a:latin typeface="Times New Roman" panose="02020603050405020304" pitchFamily="18" charset="0"/>
                <a:cs typeface="Times New Roman" panose="02020603050405020304" pitchFamily="18" charset="0"/>
              </a:rPr>
              <a:t>Atmosphere Changes detection</a:t>
            </a:r>
          </a:p>
          <a:p>
            <a:pPr marL="457200" indent="-457200">
              <a:buFont typeface="Arial" panose="020B0604020202020204" pitchFamily="34" charset="0"/>
              <a:buChar char="•"/>
            </a:pPr>
            <a:r>
              <a:rPr lang="en-IN" sz="2800" b="0" i="0" u="none" strike="noStrike" baseline="0" dirty="0">
                <a:solidFill>
                  <a:srgbClr val="000000"/>
                </a:solidFill>
                <a:latin typeface="Times New Roman" panose="02020603050405020304" pitchFamily="18" charset="0"/>
                <a:cs typeface="Times New Roman" panose="02020603050405020304" pitchFamily="18" charset="0"/>
              </a:rPr>
              <a:t>Home Automation </a:t>
            </a:r>
          </a:p>
          <a:p>
            <a:pPr marL="457200" indent="-457200">
              <a:buFont typeface="Arial" panose="020B0604020202020204" pitchFamily="34" charset="0"/>
              <a:buChar char="•"/>
            </a:pPr>
            <a:r>
              <a:rPr lang="en-IN" sz="2800" b="0" i="0" u="none" strike="noStrike" baseline="0" dirty="0">
                <a:solidFill>
                  <a:srgbClr val="000000"/>
                </a:solidFill>
                <a:latin typeface="Times New Roman" panose="02020603050405020304" pitchFamily="18" charset="0"/>
                <a:cs typeface="Times New Roman" panose="02020603050405020304" pitchFamily="18" charset="0"/>
              </a:rPr>
              <a:t>Medical Industry</a:t>
            </a:r>
          </a:p>
          <a:p>
            <a:pPr marL="457200" indent="-457200">
              <a:buFont typeface="Arial" panose="020B0604020202020204" pitchFamily="34" charset="0"/>
              <a:buChar char="•"/>
            </a:pPr>
            <a:r>
              <a:rPr lang="en-IN" sz="2800" b="0" i="0" u="none" strike="noStrike" baseline="0" dirty="0">
                <a:solidFill>
                  <a:srgbClr val="000000"/>
                </a:solidFill>
                <a:latin typeface="Times New Roman" panose="02020603050405020304" pitchFamily="18" charset="0"/>
                <a:cs typeface="Times New Roman" panose="02020603050405020304" pitchFamily="18" charset="0"/>
              </a:rPr>
              <a:t>Agriculture</a:t>
            </a:r>
          </a:p>
          <a:p>
            <a:endParaRPr lang="en-IN" sz="3200" dirty="0">
              <a:solidFill>
                <a:srgbClr val="000000"/>
              </a:solidFill>
              <a:latin typeface="Arial" panose="020B0604020202020204" pitchFamily="34" charset="0"/>
            </a:endParaRPr>
          </a:p>
          <a:p>
            <a:endParaRPr lang="en-IN" sz="3200" b="0" i="0" u="none" strike="noStrike" baseline="0" dirty="0">
              <a:solidFill>
                <a:srgbClr val="000000"/>
              </a:solidFill>
              <a:latin typeface="Arial" panose="020B0604020202020204" pitchFamily="34" charset="0"/>
            </a:endParaRPr>
          </a:p>
          <a:p>
            <a:endParaRPr lang="en-IN" sz="3200" b="0" i="0" u="none" strike="noStrike" baseline="0" dirty="0">
              <a:solidFill>
                <a:srgbClr val="000000"/>
              </a:solidFill>
              <a:latin typeface="Arial" panose="020B0604020202020204" pitchFamily="34" charset="0"/>
            </a:endParaRPr>
          </a:p>
        </p:txBody>
      </p:sp>
      <p:sp>
        <p:nvSpPr>
          <p:cNvPr id="3" name="TextBox 2"/>
          <p:cNvSpPr txBox="1"/>
          <p:nvPr/>
        </p:nvSpPr>
        <p:spPr>
          <a:xfrm>
            <a:off x="914399" y="708550"/>
            <a:ext cx="13229303" cy="1015663"/>
          </a:xfrm>
          <a:prstGeom prst="rect">
            <a:avLst/>
          </a:prstGeom>
          <a:noFill/>
        </p:spPr>
        <p:txBody>
          <a:bodyPr wrap="square" rtlCol="0">
            <a:spAutoFit/>
          </a:bodyPr>
          <a:lstStyle/>
          <a:p>
            <a:r>
              <a:rPr lang="en-US" sz="6000" b="1" dirty="0">
                <a:latin typeface="Times New Roman" panose="02020603050405020304" pitchFamily="18" charset="0"/>
                <a:cs typeface="Times New Roman" panose="02020603050405020304" pitchFamily="18" charset="0"/>
              </a:rPr>
              <a:t>ADVANTAGES &amp; APPICATIONS:-</a:t>
            </a:r>
          </a:p>
        </p:txBody>
      </p:sp>
    </p:spTree>
    <p:extLst>
      <p:ext uri="{BB962C8B-B14F-4D97-AF65-F5344CB8AC3E}">
        <p14:creationId xmlns:p14="http://schemas.microsoft.com/office/powerpoint/2010/main" val="30528023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CONCLUSION</a:t>
            </a:r>
          </a:p>
        </p:txBody>
      </p:sp>
      <p:sp>
        <p:nvSpPr>
          <p:cNvPr id="5" name="Content Placeholder 4"/>
          <p:cNvSpPr>
            <a:spLocks noGrp="1"/>
          </p:cNvSpPr>
          <p:nvPr>
            <p:ph idx="1"/>
          </p:nvPr>
        </p:nvSpPr>
        <p:spPr/>
        <p:txBody>
          <a:bodyPr>
            <a:normAutofit/>
          </a:bodyPr>
          <a:lstStyle/>
          <a:p>
            <a:pPr marL="0" indent="0" algn="just">
              <a:buNone/>
            </a:pPr>
            <a:r>
              <a:rPr lang="en-US" sz="2800" b="0" i="0" u="none" strike="noStrike" baseline="0" dirty="0">
                <a:solidFill>
                  <a:srgbClr val="000000"/>
                </a:solidFill>
                <a:latin typeface="Times New Roman" panose="02020603050405020304" pitchFamily="18" charset="0"/>
                <a:cs typeface="Times New Roman" panose="02020603050405020304" pitchFamily="18" charset="0"/>
              </a:rPr>
              <a:t>The design and development weather monitoring system is very challenging this system has been tested successfully in different areas with various terrain, in various conditions. The performance and efficiency of weather monitoring is increased by the help of this Raspberry Pi. This Raspberry Pi has a good capturing capability, so that the big number values are easily manipulated, because of this the quality of values increased. This can be used throughout day and night which reduces the labor cost. Since it was designed to be user friendly, the operator can control the Weather monitoring system easily.</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051220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78616" y="472574"/>
            <a:ext cx="6264613" cy="1015663"/>
          </a:xfrm>
          <a:prstGeom prst="rect">
            <a:avLst/>
          </a:prstGeom>
          <a:noFill/>
        </p:spPr>
        <p:txBody>
          <a:bodyPr wrap="square" rtlCol="0">
            <a:spAutoFit/>
          </a:bodyPr>
          <a:lstStyle/>
          <a:p>
            <a:r>
              <a:rPr lang="en-US" sz="6000" b="1" dirty="0">
                <a:latin typeface="Times New Roman" panose="02020603050405020304" pitchFamily="18" charset="0"/>
                <a:cs typeface="Times New Roman" panose="02020603050405020304" pitchFamily="18" charset="0"/>
              </a:rPr>
              <a:t>REFERENCES</a:t>
            </a:r>
          </a:p>
        </p:txBody>
      </p:sp>
      <p:sp>
        <p:nvSpPr>
          <p:cNvPr id="4" name="TextBox 3"/>
          <p:cNvSpPr txBox="1"/>
          <p:nvPr/>
        </p:nvSpPr>
        <p:spPr>
          <a:xfrm>
            <a:off x="1178616" y="1833802"/>
            <a:ext cx="16386713" cy="8248412"/>
          </a:xfrm>
          <a:prstGeom prst="rect">
            <a:avLst/>
          </a:prstGeom>
          <a:noFill/>
        </p:spPr>
        <p:txBody>
          <a:bodyPr wrap="square" rtlCol="0">
            <a:spAutoFit/>
          </a:bodyPr>
          <a:lstStyle/>
          <a:p>
            <a:pPr algn="l"/>
            <a:endParaRPr lang="en-IN" sz="1800" b="0" i="0" u="none" strike="noStrike" baseline="0" dirty="0">
              <a:solidFill>
                <a:srgbClr val="000000"/>
              </a:solidFill>
              <a:latin typeface="Calibri" panose="020F0502020204030204" pitchFamily="34" charset="0"/>
            </a:endParaRPr>
          </a:p>
          <a:p>
            <a:r>
              <a:rPr lang="en-IN" sz="2400" b="0" i="0" u="none" strike="noStrike" baseline="0" dirty="0">
                <a:solidFill>
                  <a:srgbClr val="000000"/>
                </a:solidFill>
                <a:latin typeface="Times New Roman" panose="02020603050405020304" pitchFamily="18" charset="0"/>
                <a:cs typeface="Times New Roman" panose="02020603050405020304" pitchFamily="18" charset="0"/>
              </a:rPr>
              <a:t>[1] Bhagat AM, </a:t>
            </a:r>
            <a:r>
              <a:rPr lang="en-IN" sz="2400" b="0" i="0" u="none" strike="noStrike" baseline="0" dirty="0" err="1">
                <a:solidFill>
                  <a:srgbClr val="000000"/>
                </a:solidFill>
                <a:latin typeface="Times New Roman" panose="02020603050405020304" pitchFamily="18" charset="0"/>
                <a:cs typeface="Times New Roman" panose="02020603050405020304" pitchFamily="18" charset="0"/>
              </a:rPr>
              <a:t>Thakare</a:t>
            </a:r>
            <a:r>
              <a:rPr lang="en-IN" sz="2400" b="0" i="0" u="none" strike="noStrike" baseline="0" dirty="0">
                <a:solidFill>
                  <a:srgbClr val="000000"/>
                </a:solidFill>
                <a:latin typeface="Times New Roman" panose="02020603050405020304" pitchFamily="18" charset="0"/>
                <a:cs typeface="Times New Roman" panose="02020603050405020304" pitchFamily="18" charset="0"/>
              </a:rPr>
              <a:t> AG, 1 KAM, </a:t>
            </a:r>
            <a:r>
              <a:rPr lang="en-IN" sz="2400" b="0" i="0" u="none" strike="noStrike" baseline="0" dirty="0" err="1">
                <a:solidFill>
                  <a:srgbClr val="000000"/>
                </a:solidFill>
                <a:latin typeface="Times New Roman" panose="02020603050405020304" pitchFamily="18" charset="0"/>
                <a:cs typeface="Times New Roman" panose="02020603050405020304" pitchFamily="18" charset="0"/>
              </a:rPr>
              <a:t>Muneshwar</a:t>
            </a:r>
            <a:r>
              <a:rPr lang="en-IN" sz="2400" b="0" i="0" u="none" strike="noStrike" baseline="0" dirty="0">
                <a:solidFill>
                  <a:srgbClr val="000000"/>
                </a:solidFill>
                <a:latin typeface="Times New Roman" panose="02020603050405020304" pitchFamily="18" charset="0"/>
                <a:cs typeface="Times New Roman" panose="02020603050405020304" pitchFamily="18" charset="0"/>
              </a:rPr>
              <a:t> NS, Choudhary PV (2019) IOT Based Weather Monitoring and Reporting System Project. International Journal of Trend in Scientific Research and Development (IJTSRD).</a:t>
            </a:r>
          </a:p>
          <a:p>
            <a:endParaRPr lang="en-IN" sz="2400" b="0" i="0" u="none" strike="noStrike" baseline="0" dirty="0">
              <a:solidFill>
                <a:srgbClr val="000000"/>
              </a:solidFill>
              <a:latin typeface="Times New Roman" panose="02020603050405020304" pitchFamily="18" charset="0"/>
              <a:cs typeface="Times New Roman" panose="02020603050405020304" pitchFamily="18" charset="0"/>
            </a:endParaRPr>
          </a:p>
          <a:p>
            <a:r>
              <a:rPr lang="en-IN" sz="2400" b="0" i="0" u="none" strike="noStrike" baseline="0" dirty="0">
                <a:solidFill>
                  <a:srgbClr val="000000"/>
                </a:solidFill>
                <a:latin typeface="Times New Roman" panose="02020603050405020304" pitchFamily="18" charset="0"/>
                <a:cs typeface="Times New Roman" panose="02020603050405020304" pitchFamily="18" charset="0"/>
              </a:rPr>
              <a:t>[2] U. Hariharan and K. Rajkumar, “Prolong Network Lifetime Using Dynamic Routing for Wireless Sensor Networks,” INTERNATIONAL JOURNAL OF SCIENTIFIC &amp; TECHNOLOGY RESEARCH, vol. 9, no. 3, pp. 7166–7169, Mar. 2020. </a:t>
            </a:r>
          </a:p>
          <a:p>
            <a:endParaRPr lang="en-IN" sz="2400" b="0" i="0" u="none" strike="noStrike" baseline="0" dirty="0">
              <a:solidFill>
                <a:srgbClr val="000000"/>
              </a:solidFill>
              <a:latin typeface="Times New Roman" panose="02020603050405020304" pitchFamily="18" charset="0"/>
              <a:cs typeface="Times New Roman" panose="02020603050405020304" pitchFamily="18" charset="0"/>
            </a:endParaRPr>
          </a:p>
          <a:p>
            <a:r>
              <a:rPr lang="en-US" sz="2400" b="0" i="0" u="none" strike="noStrike" baseline="0" dirty="0">
                <a:solidFill>
                  <a:srgbClr val="000000"/>
                </a:solidFill>
                <a:latin typeface="Times New Roman" panose="02020603050405020304" pitchFamily="18" charset="0"/>
                <a:cs typeface="Times New Roman" panose="02020603050405020304" pitchFamily="18" charset="0"/>
              </a:rPr>
              <a:t>[3] Joseph FJJ (2019) IoT Based Weather Monitoring System for Effective Analytics. International Journal of Engineering and Advanced Technology (IJEAT).</a:t>
            </a:r>
          </a:p>
          <a:p>
            <a:endParaRPr lang="en-US" sz="2400" b="0" i="0" u="none" strike="noStrike" baseline="0" dirty="0">
              <a:solidFill>
                <a:srgbClr val="000000"/>
              </a:solidFill>
              <a:latin typeface="Times New Roman" panose="02020603050405020304" pitchFamily="18" charset="0"/>
              <a:cs typeface="Times New Roman" panose="02020603050405020304" pitchFamily="18" charset="0"/>
            </a:endParaRPr>
          </a:p>
          <a:p>
            <a:r>
              <a:rPr lang="en-US" sz="2400" b="0" i="0" u="none" strike="noStrike" baseline="0" dirty="0">
                <a:solidFill>
                  <a:srgbClr val="000000"/>
                </a:solidFill>
                <a:latin typeface="Times New Roman" panose="02020603050405020304" pitchFamily="18" charset="0"/>
                <a:cs typeface="Times New Roman" panose="02020603050405020304" pitchFamily="18" charset="0"/>
              </a:rPr>
              <a:t>[4] Muck PY, </a:t>
            </a:r>
            <a:r>
              <a:rPr lang="en-US" sz="2400" b="0" i="0" u="none" strike="noStrike" baseline="0" dirty="0" err="1">
                <a:solidFill>
                  <a:srgbClr val="000000"/>
                </a:solidFill>
                <a:latin typeface="Times New Roman" panose="02020603050405020304" pitchFamily="18" charset="0"/>
                <a:cs typeface="Times New Roman" panose="02020603050405020304" pitchFamily="18" charset="0"/>
              </a:rPr>
              <a:t>Homam</a:t>
            </a:r>
            <a:r>
              <a:rPr lang="en-US" sz="2400" b="0" i="0" u="none" strike="noStrike" baseline="0" dirty="0">
                <a:solidFill>
                  <a:srgbClr val="000000"/>
                </a:solidFill>
                <a:latin typeface="Times New Roman" panose="02020603050405020304" pitchFamily="18" charset="0"/>
                <a:cs typeface="Times New Roman" panose="02020603050405020304" pitchFamily="18" charset="0"/>
              </a:rPr>
              <a:t> MJ, </a:t>
            </a:r>
            <a:r>
              <a:rPr lang="en-US" sz="2400" b="0" i="0" u="none" strike="noStrike" baseline="0" dirty="0" err="1">
                <a:solidFill>
                  <a:srgbClr val="000000"/>
                </a:solidFill>
                <a:latin typeface="Times New Roman" panose="02020603050405020304" pitchFamily="18" charset="0"/>
                <a:cs typeface="Times New Roman" panose="02020603050405020304" pitchFamily="18" charset="0"/>
              </a:rPr>
              <a:t>mariyam@uthmedumy</a:t>
            </a:r>
            <a:r>
              <a:rPr lang="en-US" sz="2400" b="0" i="0" u="none" strike="noStrike" baseline="0" dirty="0">
                <a:solidFill>
                  <a:srgbClr val="000000"/>
                </a:solidFill>
                <a:latin typeface="Times New Roman" panose="02020603050405020304" pitchFamily="18" charset="0"/>
                <a:cs typeface="Times New Roman" panose="02020603050405020304" pitchFamily="18" charset="0"/>
              </a:rPr>
              <a:t> (2018) </a:t>
            </a:r>
            <a:r>
              <a:rPr lang="en-US" sz="2400" b="0" i="0" u="none" strike="noStrike" baseline="0" dirty="0" err="1">
                <a:solidFill>
                  <a:srgbClr val="000000"/>
                </a:solidFill>
                <a:latin typeface="Times New Roman" panose="02020603050405020304" pitchFamily="18" charset="0"/>
                <a:cs typeface="Times New Roman" panose="02020603050405020304" pitchFamily="18" charset="0"/>
              </a:rPr>
              <a:t>Iot</a:t>
            </a:r>
            <a:r>
              <a:rPr lang="en-US" sz="2400" b="0" i="0" u="none" strike="noStrike" baseline="0" dirty="0">
                <a:solidFill>
                  <a:srgbClr val="000000"/>
                </a:solidFill>
                <a:latin typeface="Times New Roman" panose="02020603050405020304" pitchFamily="18" charset="0"/>
                <a:cs typeface="Times New Roman" panose="02020603050405020304" pitchFamily="18" charset="0"/>
              </a:rPr>
              <a:t> Based Weather Station Using Raspberry Pi 3. International Journal of Engineering &amp; Technology.</a:t>
            </a:r>
          </a:p>
          <a:p>
            <a:endParaRPr lang="en-IN" sz="2400" b="0" i="0" u="none" strike="noStrike" baseline="0" dirty="0">
              <a:latin typeface="Times New Roman" panose="02020603050405020304" pitchFamily="18" charset="0"/>
              <a:cs typeface="Times New Roman" panose="02020603050405020304" pitchFamily="18" charset="0"/>
            </a:endParaRPr>
          </a:p>
          <a:p>
            <a:r>
              <a:rPr lang="en-IN" sz="2400" b="0" i="0" u="none" strike="noStrike" baseline="0" dirty="0">
                <a:latin typeface="Times New Roman" panose="02020603050405020304" pitchFamily="18" charset="0"/>
                <a:cs typeface="Times New Roman" panose="02020603050405020304" pitchFamily="18" charset="0"/>
              </a:rPr>
              <a:t>[5] S. S. </a:t>
            </a:r>
            <a:r>
              <a:rPr lang="en-IN" sz="2400" b="0" i="0" u="none" strike="noStrike" baseline="0" dirty="0" err="1">
                <a:latin typeface="Times New Roman" panose="02020603050405020304" pitchFamily="18" charset="0"/>
                <a:cs typeface="Times New Roman" panose="02020603050405020304" pitchFamily="18" charset="0"/>
              </a:rPr>
              <a:t>Sengar</a:t>
            </a:r>
            <a:r>
              <a:rPr lang="en-IN" sz="2400" b="0" i="0" u="none" strike="noStrike" baseline="0" dirty="0">
                <a:latin typeface="Times New Roman" panose="02020603050405020304" pitchFamily="18" charset="0"/>
                <a:cs typeface="Times New Roman" panose="02020603050405020304" pitchFamily="18" charset="0"/>
              </a:rPr>
              <a:t>, U. Hariharan, and K. Rajkumar, “Multimodal Biometric </a:t>
            </a:r>
            <a:r>
              <a:rPr lang="en-US" sz="2400" b="0" i="0" u="none" strike="noStrike" baseline="0" dirty="0">
                <a:latin typeface="Times New Roman" panose="02020603050405020304" pitchFamily="18" charset="0"/>
                <a:cs typeface="Times New Roman" panose="02020603050405020304" pitchFamily="18" charset="0"/>
              </a:rPr>
              <a:t>Authentication System using Deep Learning Method,” 2020 International Conference on Emerging Smart Computing and Informatics (ESCI), 2020.</a:t>
            </a:r>
          </a:p>
          <a:p>
            <a:r>
              <a:rPr lang="en-US" sz="2400" b="0" i="0" u="none" strike="noStrike" baseline="0" dirty="0">
                <a:latin typeface="Times New Roman" panose="02020603050405020304" pitchFamily="18" charset="0"/>
                <a:cs typeface="Times New Roman" panose="02020603050405020304" pitchFamily="18" charset="0"/>
              </a:rPr>
              <a:t> </a:t>
            </a:r>
          </a:p>
          <a:p>
            <a:r>
              <a:rPr lang="en-IN" sz="2400" b="0" i="0" u="none" strike="noStrike" baseline="0" dirty="0">
                <a:latin typeface="Times New Roman" panose="02020603050405020304" pitchFamily="18" charset="0"/>
                <a:cs typeface="Times New Roman" panose="02020603050405020304" pitchFamily="18" charset="0"/>
              </a:rPr>
              <a:t>[6] Jadhav Gaurav, Jadhav Kunal, </a:t>
            </a:r>
            <a:r>
              <a:rPr lang="en-IN" sz="2400" b="0" i="0" u="none" strike="noStrike" baseline="0" dirty="0" err="1">
                <a:latin typeface="Times New Roman" panose="02020603050405020304" pitchFamily="18" charset="0"/>
                <a:cs typeface="Times New Roman" panose="02020603050405020304" pitchFamily="18" charset="0"/>
              </a:rPr>
              <a:t>Nadlamani</a:t>
            </a:r>
            <a:r>
              <a:rPr lang="en-IN" sz="2400" b="0" i="0" u="none" strike="noStrike" baseline="0" dirty="0">
                <a:latin typeface="Times New Roman" panose="02020603050405020304" pitchFamily="18" charset="0"/>
                <a:cs typeface="Times New Roman" panose="02020603050405020304" pitchFamily="18" charset="0"/>
              </a:rPr>
              <a:t> Kavita (2016) Environment Monitoring System using Raspberry-Pi. International Research Journal of Engineering and Technology (IRJET).</a:t>
            </a:r>
          </a:p>
          <a:p>
            <a:endParaRPr lang="en-IN" sz="2400" b="0" i="0" u="none" strike="noStrike" baseline="0" dirty="0">
              <a:latin typeface="Times New Roman" panose="02020603050405020304" pitchFamily="18" charset="0"/>
              <a:cs typeface="Times New Roman" panose="02020603050405020304" pitchFamily="18" charset="0"/>
            </a:endParaRPr>
          </a:p>
          <a:p>
            <a:r>
              <a:rPr lang="en-US" sz="2400" b="0" i="0" u="none" strike="noStrike" baseline="0" dirty="0">
                <a:latin typeface="Times New Roman" panose="02020603050405020304" pitchFamily="18" charset="0"/>
                <a:cs typeface="Times New Roman" panose="02020603050405020304" pitchFamily="18" charset="0"/>
              </a:rPr>
              <a:t>[7] K. Rajkumar and V. </a:t>
            </a:r>
            <a:r>
              <a:rPr lang="en-US" sz="2400" b="0" i="0" u="none" strike="noStrike" baseline="0" dirty="0" err="1">
                <a:latin typeface="Times New Roman" panose="02020603050405020304" pitchFamily="18" charset="0"/>
                <a:cs typeface="Times New Roman" panose="02020603050405020304" pitchFamily="18" charset="0"/>
              </a:rPr>
              <a:t>Dhanakoti</a:t>
            </a:r>
            <a:r>
              <a:rPr lang="en-US" sz="2400" b="0" i="0" u="none" strike="noStrike" baseline="0" dirty="0">
                <a:latin typeface="Times New Roman" panose="02020603050405020304" pitchFamily="18" charset="0"/>
                <a:cs typeface="Times New Roman" panose="02020603050405020304" pitchFamily="18" charset="0"/>
              </a:rPr>
              <a:t>, “Methodological Survey to Improve the Secure Data Storage in Cloud Computing,” 2020 International Conference on Emerging Smart Computing and Informatics (ESCI), 2020. </a:t>
            </a:r>
          </a:p>
          <a:p>
            <a:pPr marL="742950" indent="-742950">
              <a:buAutoNum type="arabicPeriod"/>
            </a:pPr>
            <a:endParaRPr lang="en-US" sz="3200" dirty="0"/>
          </a:p>
        </p:txBody>
      </p:sp>
      <p:sp>
        <p:nvSpPr>
          <p:cNvPr id="3" name="Slide Number Placeholder 2"/>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spTree>
    <p:extLst>
      <p:ext uri="{BB962C8B-B14F-4D97-AF65-F5344CB8AC3E}">
        <p14:creationId xmlns:p14="http://schemas.microsoft.com/office/powerpoint/2010/main" val="38322532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340731" y="3709377"/>
            <a:ext cx="13165603" cy="2215991"/>
          </a:xfrm>
          <a:prstGeom prst="rect">
            <a:avLst/>
          </a:prstGeom>
          <a:noFill/>
        </p:spPr>
        <p:txBody>
          <a:bodyPr wrap="square" rtlCol="0">
            <a:spAutoFit/>
          </a:bodyPr>
          <a:lstStyle/>
          <a:p>
            <a:r>
              <a:rPr lang="en-US" sz="13800"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19841640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464</TotalTime>
  <Words>1361</Words>
  <Application>Microsoft Office PowerPoint</Application>
  <PresentationFormat>Custom</PresentationFormat>
  <Paragraphs>228</Paragraphs>
  <Slides>14</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Calibri</vt:lpstr>
      <vt:lpstr>Barlow Black</vt:lpstr>
      <vt:lpstr>Calibri Light</vt:lpstr>
      <vt:lpstr>Times New Roman</vt:lpstr>
      <vt:lpstr>Arial</vt:lpstr>
      <vt:lpstr>Office Theme</vt:lpstr>
      <vt:lpstr>PowerPoint Presentation</vt:lpstr>
      <vt:lpstr>PowerPoint Presentation</vt:lpstr>
      <vt:lpstr>INTRODUCTION</vt:lpstr>
      <vt:lpstr>PowerPoint Presentation</vt:lpstr>
      <vt:lpstr>PowerPoint Presentation</vt:lpstr>
      <vt:lpstr>PowerPoint Presentation</vt:lpstr>
      <vt:lpstr>PowerPoint Presentation</vt:lpstr>
      <vt:lpstr>PowerPoint Presentation</vt:lpstr>
      <vt:lpstr>PowerPoint Presentation</vt:lpstr>
      <vt:lpstr>BLOCK DIAGRAM</vt:lpstr>
      <vt:lpstr>PowerPoint Presentation</vt:lpstr>
      <vt:lpstr>CONCLUSION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Vijay Patole</dc:creator>
  <cp:lastModifiedBy>Sagar Kate</cp:lastModifiedBy>
  <cp:revision>44</cp:revision>
  <dcterms:modified xsi:type="dcterms:W3CDTF">2025-06-07T07:03:49Z</dcterms:modified>
</cp:coreProperties>
</file>